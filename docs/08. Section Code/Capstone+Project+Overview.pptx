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8288000" cy="10287000"/>
  <p:notesSz cx="6858000" cy="9144000"/>
  <p:embeddedFontLst>
    <p:embeddedFont>
      <p:font typeface="Poppins" panose="00000500000000000000" pitchFamily="2" charset="0"/>
      <p:regular r:id="rId11"/>
    </p:embeddedFon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49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09834"/>
            <a:ext cx="6473831" cy="233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5"/>
              </a:lnSpc>
            </a:pPr>
            <a:r>
              <a:rPr lang="en-US" sz="51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PROJECT OVERVIEW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4948191"/>
            <a:ext cx="18030636" cy="6523812"/>
          </a:xfrm>
          <a:custGeom>
            <a:avLst/>
            <a:gdLst/>
            <a:ahLst/>
            <a:cxnLst/>
            <a:rect l="l" t="t" r="r" b="b"/>
            <a:pathLst>
              <a:path w="18030636" h="6523812">
                <a:moveTo>
                  <a:pt x="0" y="0"/>
                </a:moveTo>
                <a:lnTo>
                  <a:pt x="18030636" y="0"/>
                </a:lnTo>
                <a:lnTo>
                  <a:pt x="18030636" y="6523812"/>
                </a:lnTo>
                <a:lnTo>
                  <a:pt x="0" y="652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7301889" y="-221455"/>
            <a:ext cx="11192886" cy="11192886"/>
          </a:xfrm>
          <a:custGeom>
            <a:avLst/>
            <a:gdLst/>
            <a:ahLst/>
            <a:cxnLst/>
            <a:rect l="l" t="t" r="r" b="b"/>
            <a:pathLst>
              <a:path w="11192886" h="11192886">
                <a:moveTo>
                  <a:pt x="0" y="0"/>
                </a:moveTo>
                <a:lnTo>
                  <a:pt x="11192887" y="0"/>
                </a:lnTo>
                <a:lnTo>
                  <a:pt x="11192887" y="11192886"/>
                </a:lnTo>
                <a:lnTo>
                  <a:pt x="0" y="1119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5" name="Group 5"/>
          <p:cNvGrpSpPr/>
          <p:nvPr/>
        </p:nvGrpSpPr>
        <p:grpSpPr>
          <a:xfrm>
            <a:off x="12898332" y="18239"/>
            <a:ext cx="10713498" cy="107134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>
                <a:alphaModFix amt="49000"/>
              </a:blip>
              <a:stretch>
                <a:fillRect l="-38888" r="-38888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619739" y="6059378"/>
            <a:ext cx="8900298" cy="4301439"/>
            <a:chOff x="0" y="0"/>
            <a:chExt cx="812800" cy="392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92819"/>
            </a:xfrm>
            <a:custGeom>
              <a:avLst/>
              <a:gdLst/>
              <a:ahLst/>
              <a:cxnLst/>
              <a:rect l="l" t="t" r="r" b="b"/>
              <a:pathLst>
                <a:path w="812800" h="392819">
                  <a:moveTo>
                    <a:pt x="406400" y="0"/>
                  </a:moveTo>
                  <a:lnTo>
                    <a:pt x="812800" y="392819"/>
                  </a:lnTo>
                  <a:lnTo>
                    <a:pt x="0" y="39281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9CD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000" y="144280"/>
              <a:ext cx="558800" cy="220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703334" y="6714317"/>
            <a:ext cx="7480213" cy="740030"/>
            <a:chOff x="0" y="0"/>
            <a:chExt cx="2054860" cy="2032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4860" cy="203291"/>
            </a:xfrm>
            <a:custGeom>
              <a:avLst/>
              <a:gdLst/>
              <a:ahLst/>
              <a:cxnLst/>
              <a:rect l="l" t="t" r="r" b="b"/>
              <a:pathLst>
                <a:path w="2054860" h="203291">
                  <a:moveTo>
                    <a:pt x="101645" y="0"/>
                  </a:moveTo>
                  <a:lnTo>
                    <a:pt x="1953214" y="0"/>
                  </a:lnTo>
                  <a:cubicBezTo>
                    <a:pt x="2009351" y="0"/>
                    <a:pt x="2054860" y="45508"/>
                    <a:pt x="2054860" y="101645"/>
                  </a:cubicBezTo>
                  <a:lnTo>
                    <a:pt x="2054860" y="101645"/>
                  </a:lnTo>
                  <a:cubicBezTo>
                    <a:pt x="2054860" y="157783"/>
                    <a:pt x="2009351" y="203291"/>
                    <a:pt x="1953214" y="203291"/>
                  </a:cubicBezTo>
                  <a:lnTo>
                    <a:pt x="101645" y="203291"/>
                  </a:lnTo>
                  <a:cubicBezTo>
                    <a:pt x="45508" y="203291"/>
                    <a:pt x="0" y="157783"/>
                    <a:pt x="0" y="101645"/>
                  </a:cubicBezTo>
                  <a:lnTo>
                    <a:pt x="0" y="101645"/>
                  </a:lnTo>
                  <a:cubicBezTo>
                    <a:pt x="0" y="45508"/>
                    <a:pt x="45508" y="0"/>
                    <a:pt x="101645" y="0"/>
                  </a:cubicBezTo>
                  <a:close/>
                </a:path>
              </a:pathLst>
            </a:custGeom>
            <a:solidFill>
              <a:srgbClr val="2F6DA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54860" cy="241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829857" y="1358318"/>
            <a:ext cx="7271030" cy="7007455"/>
          </a:xfrm>
          <a:custGeom>
            <a:avLst/>
            <a:gdLst/>
            <a:ahLst/>
            <a:cxnLst/>
            <a:rect l="l" t="t" r="r" b="b"/>
            <a:pathLst>
              <a:path w="7271030" h="7007455">
                <a:moveTo>
                  <a:pt x="0" y="0"/>
                </a:moveTo>
                <a:lnTo>
                  <a:pt x="7271029" y="0"/>
                </a:lnTo>
                <a:lnTo>
                  <a:pt x="7271029" y="7007454"/>
                </a:lnTo>
                <a:lnTo>
                  <a:pt x="0" y="7007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14" name="Group 14"/>
          <p:cNvGrpSpPr/>
          <p:nvPr/>
        </p:nvGrpSpPr>
        <p:grpSpPr>
          <a:xfrm rot="-2700000">
            <a:off x="8876799" y="-2171813"/>
            <a:ext cx="2083974" cy="6343455"/>
            <a:chOff x="0" y="0"/>
            <a:chExt cx="548866" cy="16707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866" cy="1670704"/>
            </a:xfrm>
            <a:custGeom>
              <a:avLst/>
              <a:gdLst/>
              <a:ahLst/>
              <a:cxnLst/>
              <a:rect l="l" t="t" r="r" b="b"/>
              <a:pathLst>
                <a:path w="548866" h="1670704">
                  <a:moveTo>
                    <a:pt x="0" y="0"/>
                  </a:moveTo>
                  <a:lnTo>
                    <a:pt x="548866" y="0"/>
                  </a:lnTo>
                  <a:lnTo>
                    <a:pt x="548866" y="1670704"/>
                  </a:lnTo>
                  <a:lnTo>
                    <a:pt x="0" y="1670704"/>
                  </a:lnTo>
                  <a:close/>
                </a:path>
              </a:pathLst>
            </a:custGeom>
            <a:gradFill rotWithShape="1">
              <a:gsLst>
                <a:gs pos="0">
                  <a:srgbClr val="004AAC">
                    <a:alpha val="100000"/>
                  </a:srgbClr>
                </a:gs>
                <a:gs pos="100000">
                  <a:srgbClr val="00265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48866" cy="1680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2700000">
            <a:off x="16432749" y="5378580"/>
            <a:ext cx="2118165" cy="6343455"/>
            <a:chOff x="0" y="0"/>
            <a:chExt cx="557871" cy="16707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7871" cy="1670704"/>
            </a:xfrm>
            <a:custGeom>
              <a:avLst/>
              <a:gdLst/>
              <a:ahLst/>
              <a:cxnLst/>
              <a:rect l="l" t="t" r="r" b="b"/>
              <a:pathLst>
                <a:path w="557871" h="1670704">
                  <a:moveTo>
                    <a:pt x="0" y="0"/>
                  </a:moveTo>
                  <a:lnTo>
                    <a:pt x="557871" y="0"/>
                  </a:lnTo>
                  <a:lnTo>
                    <a:pt x="557871" y="1670704"/>
                  </a:lnTo>
                  <a:lnTo>
                    <a:pt x="0" y="1670704"/>
                  </a:lnTo>
                  <a:close/>
                </a:path>
              </a:pathLst>
            </a:custGeom>
            <a:gradFill rotWithShape="1">
              <a:gsLst>
                <a:gs pos="0">
                  <a:srgbClr val="004AAC">
                    <a:alpha val="100000"/>
                  </a:srgbClr>
                </a:gs>
                <a:gs pos="100000">
                  <a:srgbClr val="00265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57871" cy="1680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82056" y="1803973"/>
            <a:ext cx="5982794" cy="598279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761344"/>
            <a:ext cx="470161" cy="486583"/>
          </a:xfrm>
          <a:custGeom>
            <a:avLst/>
            <a:gdLst/>
            <a:ahLst/>
            <a:cxnLst/>
            <a:rect l="l" t="t" r="r" b="b"/>
            <a:pathLst>
              <a:path w="470161" h="486583">
                <a:moveTo>
                  <a:pt x="0" y="0"/>
                </a:moveTo>
                <a:lnTo>
                  <a:pt x="470161" y="0"/>
                </a:lnTo>
                <a:lnTo>
                  <a:pt x="470161" y="486583"/>
                </a:lnTo>
                <a:lnTo>
                  <a:pt x="0" y="48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3" name="TextBox 23"/>
          <p:cNvSpPr txBox="1"/>
          <p:nvPr/>
        </p:nvSpPr>
        <p:spPr>
          <a:xfrm>
            <a:off x="1028700" y="1548928"/>
            <a:ext cx="6473831" cy="810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5"/>
              </a:lnSpc>
            </a:pPr>
            <a:r>
              <a:rPr lang="en-US" sz="5158" b="1">
                <a:solidFill>
                  <a:srgbClr val="63CDF6"/>
                </a:solidFill>
                <a:latin typeface="Poppins Bold"/>
                <a:ea typeface="Poppins Bold"/>
                <a:cs typeface="Poppins Bold"/>
                <a:sym typeface="Poppins Bold"/>
              </a:rPr>
              <a:t>AI-103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317810"/>
            <a:ext cx="7061895" cy="9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5"/>
              </a:lnSpc>
              <a:spcBef>
                <a:spcPct val="0"/>
              </a:spcBef>
            </a:pPr>
            <a:r>
              <a:rPr lang="en-US" sz="1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CloudXeus is an online training company offering certification-based Azure and AWS courses. In this capstone, students build an AI-powered course support agent using Azure AI services — an end-to-end business scenario covering retrieval, evaluation, monitoring, and deployment.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6801571"/>
            <a:ext cx="5159890" cy="58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50"/>
              </a:lnSpc>
              <a:spcBef>
                <a:spcPct val="0"/>
              </a:spcBef>
            </a:pPr>
            <a:r>
              <a:rPr lang="en-US" sz="192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BUILD A CLOUDXEUS COURSE SUPPORT AGENT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8142638"/>
            <a:ext cx="2314466" cy="30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22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8453988"/>
            <a:ext cx="2726516" cy="30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22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Alan Rodrigues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76015" y="8142638"/>
            <a:ext cx="2314466" cy="30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22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76015" y="8453988"/>
            <a:ext cx="2726516" cy="30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22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AI-103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32302" y="868635"/>
            <a:ext cx="1298151" cy="243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05"/>
              </a:lnSpc>
              <a:spcBef>
                <a:spcPct val="0"/>
              </a:spcBef>
            </a:pPr>
            <a:r>
              <a:rPr lang="en-US" sz="1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CloudXeus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3612" y="0"/>
            <a:ext cx="18855225" cy="4764596"/>
            <a:chOff x="0" y="0"/>
            <a:chExt cx="4965985" cy="1254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5985" cy="1254873"/>
            </a:xfrm>
            <a:custGeom>
              <a:avLst/>
              <a:gdLst/>
              <a:ahLst/>
              <a:cxnLst/>
              <a:rect l="l" t="t" r="r" b="b"/>
              <a:pathLst>
                <a:path w="4965985" h="1254873">
                  <a:moveTo>
                    <a:pt x="0" y="0"/>
                  </a:moveTo>
                  <a:lnTo>
                    <a:pt x="4965985" y="0"/>
                  </a:lnTo>
                  <a:lnTo>
                    <a:pt x="4965985" y="1254873"/>
                  </a:lnTo>
                  <a:lnTo>
                    <a:pt x="0" y="1254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965985" cy="1264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60776" y="981075"/>
            <a:ext cx="12166448" cy="995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27"/>
              </a:lnSpc>
            </a:pPr>
            <a:r>
              <a:rPr lang="en-US" sz="6262" b="1">
                <a:solidFill>
                  <a:srgbClr val="05005B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42773" y="3390619"/>
            <a:ext cx="4877816" cy="3181911"/>
            <a:chOff x="0" y="0"/>
            <a:chExt cx="755701" cy="4929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5701" cy="492961"/>
            </a:xfrm>
            <a:custGeom>
              <a:avLst/>
              <a:gdLst/>
              <a:ahLst/>
              <a:cxnLst/>
              <a:rect l="l" t="t" r="r" b="b"/>
              <a:pathLst>
                <a:path w="755701" h="492961">
                  <a:moveTo>
                    <a:pt x="77771" y="0"/>
                  </a:moveTo>
                  <a:lnTo>
                    <a:pt x="677930" y="0"/>
                  </a:lnTo>
                  <a:cubicBezTo>
                    <a:pt x="720882" y="0"/>
                    <a:pt x="755701" y="34819"/>
                    <a:pt x="755701" y="77771"/>
                  </a:cubicBezTo>
                  <a:lnTo>
                    <a:pt x="755701" y="415190"/>
                  </a:lnTo>
                  <a:cubicBezTo>
                    <a:pt x="755701" y="458142"/>
                    <a:pt x="720882" y="492961"/>
                    <a:pt x="677930" y="492961"/>
                  </a:cubicBezTo>
                  <a:lnTo>
                    <a:pt x="77771" y="492961"/>
                  </a:lnTo>
                  <a:cubicBezTo>
                    <a:pt x="34819" y="492961"/>
                    <a:pt x="0" y="458142"/>
                    <a:pt x="0" y="415190"/>
                  </a:cubicBezTo>
                  <a:lnTo>
                    <a:pt x="0" y="77771"/>
                  </a:lnTo>
                  <a:cubicBezTo>
                    <a:pt x="0" y="34819"/>
                    <a:pt x="34819" y="0"/>
                    <a:pt x="77771" y="0"/>
                  </a:cubicBez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  <a:ln w="152400" cap="rnd">
              <a:gradFill>
                <a:gsLst>
                  <a:gs pos="0">
                    <a:srgbClr val="476FB5">
                      <a:alpha val="100000"/>
                    </a:srgbClr>
                  </a:gs>
                  <a:gs pos="100000">
                    <a:srgbClr val="4690C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19165" y="3390619"/>
            <a:ext cx="4877816" cy="3181911"/>
            <a:chOff x="0" y="0"/>
            <a:chExt cx="755701" cy="4929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5701" cy="492961"/>
            </a:xfrm>
            <a:custGeom>
              <a:avLst/>
              <a:gdLst/>
              <a:ahLst/>
              <a:cxnLst/>
              <a:rect l="l" t="t" r="r" b="b"/>
              <a:pathLst>
                <a:path w="755701" h="492961">
                  <a:moveTo>
                    <a:pt x="77771" y="0"/>
                  </a:moveTo>
                  <a:lnTo>
                    <a:pt x="677930" y="0"/>
                  </a:lnTo>
                  <a:cubicBezTo>
                    <a:pt x="720882" y="0"/>
                    <a:pt x="755701" y="34819"/>
                    <a:pt x="755701" y="77771"/>
                  </a:cubicBezTo>
                  <a:lnTo>
                    <a:pt x="755701" y="415190"/>
                  </a:lnTo>
                  <a:cubicBezTo>
                    <a:pt x="755701" y="458142"/>
                    <a:pt x="720882" y="492961"/>
                    <a:pt x="677930" y="492961"/>
                  </a:cubicBezTo>
                  <a:lnTo>
                    <a:pt x="77771" y="492961"/>
                  </a:lnTo>
                  <a:cubicBezTo>
                    <a:pt x="34819" y="492961"/>
                    <a:pt x="0" y="458142"/>
                    <a:pt x="0" y="415190"/>
                  </a:cubicBezTo>
                  <a:lnTo>
                    <a:pt x="0" y="77771"/>
                  </a:lnTo>
                  <a:cubicBezTo>
                    <a:pt x="0" y="34819"/>
                    <a:pt x="34819" y="0"/>
                    <a:pt x="77771" y="0"/>
                  </a:cubicBezTo>
                  <a:close/>
                </a:path>
              </a:pathLst>
            </a:custGeom>
            <a:blipFill>
              <a:blip r:embed="rId3"/>
              <a:stretch>
                <a:fillRect t="-205" b="-205"/>
              </a:stretch>
            </a:blipFill>
            <a:ln w="152400" cap="rnd">
              <a:gradFill>
                <a:gsLst>
                  <a:gs pos="0">
                    <a:srgbClr val="476FB5">
                      <a:alpha val="100000"/>
                    </a:srgbClr>
                  </a:gs>
                  <a:gs pos="100000">
                    <a:srgbClr val="4690C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95557" y="3390619"/>
            <a:ext cx="4877816" cy="3181911"/>
            <a:chOff x="0" y="0"/>
            <a:chExt cx="755701" cy="4929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5701" cy="492961"/>
            </a:xfrm>
            <a:custGeom>
              <a:avLst/>
              <a:gdLst/>
              <a:ahLst/>
              <a:cxnLst/>
              <a:rect l="l" t="t" r="r" b="b"/>
              <a:pathLst>
                <a:path w="755701" h="492961">
                  <a:moveTo>
                    <a:pt x="77771" y="0"/>
                  </a:moveTo>
                  <a:lnTo>
                    <a:pt x="677930" y="0"/>
                  </a:lnTo>
                  <a:cubicBezTo>
                    <a:pt x="720882" y="0"/>
                    <a:pt x="755701" y="34819"/>
                    <a:pt x="755701" y="77771"/>
                  </a:cubicBezTo>
                  <a:lnTo>
                    <a:pt x="755701" y="415190"/>
                  </a:lnTo>
                  <a:cubicBezTo>
                    <a:pt x="755701" y="458142"/>
                    <a:pt x="720882" y="492961"/>
                    <a:pt x="677930" y="492961"/>
                  </a:cubicBezTo>
                  <a:lnTo>
                    <a:pt x="77771" y="492961"/>
                  </a:lnTo>
                  <a:cubicBezTo>
                    <a:pt x="34819" y="492961"/>
                    <a:pt x="0" y="458142"/>
                    <a:pt x="0" y="415190"/>
                  </a:cubicBezTo>
                  <a:lnTo>
                    <a:pt x="0" y="77771"/>
                  </a:lnTo>
                  <a:cubicBezTo>
                    <a:pt x="0" y="34819"/>
                    <a:pt x="34819" y="0"/>
                    <a:pt x="77771" y="0"/>
                  </a:cubicBezTo>
                  <a:close/>
                </a:path>
              </a:pathLst>
            </a:custGeom>
            <a:blipFill>
              <a:blip r:embed="rId4"/>
              <a:stretch>
                <a:fillRect t="-205" b="-205"/>
              </a:stretch>
            </a:blipFill>
            <a:ln w="152400" cap="rnd">
              <a:gradFill>
                <a:gsLst>
                  <a:gs pos="0">
                    <a:srgbClr val="476FB5">
                      <a:alpha val="100000"/>
                    </a:srgbClr>
                  </a:gs>
                  <a:gs pos="100000">
                    <a:srgbClr val="4690C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1206003" y="-580848"/>
            <a:ext cx="4845896" cy="4845896"/>
          </a:xfrm>
          <a:custGeom>
            <a:avLst/>
            <a:gdLst/>
            <a:ahLst/>
            <a:cxnLst/>
            <a:rect l="l" t="t" r="r" b="b"/>
            <a:pathLst>
              <a:path w="4845896" h="4845896">
                <a:moveTo>
                  <a:pt x="0" y="0"/>
                </a:moveTo>
                <a:lnTo>
                  <a:pt x="4845896" y="0"/>
                </a:lnTo>
                <a:lnTo>
                  <a:pt x="4845896" y="4845895"/>
                </a:lnTo>
                <a:lnTo>
                  <a:pt x="0" y="4845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Freeform 13"/>
          <p:cNvSpPr/>
          <p:nvPr/>
        </p:nvSpPr>
        <p:spPr>
          <a:xfrm>
            <a:off x="13834639" y="-1104060"/>
            <a:ext cx="4821545" cy="4821545"/>
          </a:xfrm>
          <a:custGeom>
            <a:avLst/>
            <a:gdLst/>
            <a:ahLst/>
            <a:cxnLst/>
            <a:rect l="l" t="t" r="r" b="b"/>
            <a:pathLst>
              <a:path w="4821545" h="4821545">
                <a:moveTo>
                  <a:pt x="0" y="0"/>
                </a:moveTo>
                <a:lnTo>
                  <a:pt x="4821545" y="0"/>
                </a:lnTo>
                <a:lnTo>
                  <a:pt x="4821545" y="4821545"/>
                </a:lnTo>
                <a:lnTo>
                  <a:pt x="0" y="48215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/>
          <p:cNvSpPr txBox="1"/>
          <p:nvPr/>
        </p:nvSpPr>
        <p:spPr>
          <a:xfrm>
            <a:off x="1487380" y="7112147"/>
            <a:ext cx="4188602" cy="33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7"/>
              </a:lnSpc>
              <a:spcBef>
                <a:spcPct val="0"/>
              </a:spcBef>
            </a:pPr>
            <a:r>
              <a:rPr lang="en-US" sz="21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Course Information Queries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0336" y="8033119"/>
            <a:ext cx="3742690" cy="124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3"/>
              </a:lnSpc>
              <a:spcBef>
                <a:spcPct val="0"/>
              </a:spcBef>
            </a:pPr>
            <a:r>
              <a:rPr lang="en-US" sz="20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and sales teams need fast, accurate answers on course features, exams, prerequisites, and pricing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93023" y="7112147"/>
            <a:ext cx="3330099" cy="66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7"/>
              </a:lnSpc>
              <a:spcBef>
                <a:spcPct val="0"/>
              </a:spcBef>
            </a:pPr>
            <a:r>
              <a:rPr lang="en-US" sz="21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Processing from PDFs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86728" y="8033119"/>
            <a:ext cx="3742690" cy="124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3"/>
              </a:lnSpc>
              <a:spcBef>
                <a:spcPct val="0"/>
              </a:spcBef>
            </a:pPr>
            <a:r>
              <a:rPr lang="en-US" sz="20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invoices stored in Blob Storage must be extracted and processed from PDF documents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10155" y="7112147"/>
            <a:ext cx="3248618" cy="66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7"/>
              </a:lnSpc>
              <a:spcBef>
                <a:spcPct val="0"/>
              </a:spcBef>
            </a:pPr>
            <a:r>
              <a:rPr lang="en-US" sz="21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Accuracy, Traceability &amp; Governance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63120" y="8033119"/>
            <a:ext cx="3742690" cy="124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3"/>
              </a:lnSpc>
              <a:spcBef>
                <a:spcPct val="0"/>
              </a:spcBef>
            </a:pPr>
            <a:r>
              <a:rPr lang="en-US" sz="20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business requires reliable answers, audit trails, operational monitoring, and data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5655957"/>
            <a:ext cx="10991851" cy="109918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401926"/>
            <a:ext cx="18030636" cy="6523812"/>
          </a:xfrm>
          <a:custGeom>
            <a:avLst/>
            <a:gdLst/>
            <a:ahLst/>
            <a:cxnLst/>
            <a:rect l="l" t="t" r="r" b="b"/>
            <a:pathLst>
              <a:path w="18030636" h="6523812">
                <a:moveTo>
                  <a:pt x="0" y="0"/>
                </a:moveTo>
                <a:lnTo>
                  <a:pt x="18030636" y="0"/>
                </a:lnTo>
                <a:lnTo>
                  <a:pt x="18030636" y="6523812"/>
                </a:lnTo>
                <a:lnTo>
                  <a:pt x="0" y="652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6" name="Group 6"/>
          <p:cNvGrpSpPr/>
          <p:nvPr/>
        </p:nvGrpSpPr>
        <p:grpSpPr>
          <a:xfrm>
            <a:off x="14639925" y="-913652"/>
            <a:ext cx="13272308" cy="1327230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8846" y="18846"/>
              <a:ext cx="775108" cy="775108"/>
            </a:xfrm>
            <a:custGeom>
              <a:avLst/>
              <a:gdLst/>
              <a:ahLst/>
              <a:cxnLst/>
              <a:rect l="l" t="t" r="r" b="b"/>
              <a:pathLst>
                <a:path w="775108" h="775108">
                  <a:moveTo>
                    <a:pt x="419726" y="13326"/>
                  </a:moveTo>
                  <a:lnTo>
                    <a:pt x="761782" y="355382"/>
                  </a:lnTo>
                  <a:cubicBezTo>
                    <a:pt x="770314" y="363914"/>
                    <a:pt x="775108" y="375487"/>
                    <a:pt x="775108" y="387554"/>
                  </a:cubicBezTo>
                  <a:cubicBezTo>
                    <a:pt x="775108" y="399621"/>
                    <a:pt x="770314" y="411194"/>
                    <a:pt x="761782" y="419726"/>
                  </a:cubicBezTo>
                  <a:lnTo>
                    <a:pt x="419726" y="761782"/>
                  </a:lnTo>
                  <a:cubicBezTo>
                    <a:pt x="411194" y="770314"/>
                    <a:pt x="399621" y="775108"/>
                    <a:pt x="387554" y="775108"/>
                  </a:cubicBezTo>
                  <a:cubicBezTo>
                    <a:pt x="375487" y="775108"/>
                    <a:pt x="363914" y="770314"/>
                    <a:pt x="355382" y="761782"/>
                  </a:cubicBezTo>
                  <a:lnTo>
                    <a:pt x="13326" y="419726"/>
                  </a:lnTo>
                  <a:cubicBezTo>
                    <a:pt x="4794" y="411194"/>
                    <a:pt x="0" y="399621"/>
                    <a:pt x="0" y="387554"/>
                  </a:cubicBezTo>
                  <a:cubicBezTo>
                    <a:pt x="0" y="375487"/>
                    <a:pt x="4794" y="363914"/>
                    <a:pt x="13326" y="355382"/>
                  </a:cubicBezTo>
                  <a:lnTo>
                    <a:pt x="355382" y="13326"/>
                  </a:lnTo>
                  <a:cubicBezTo>
                    <a:pt x="363914" y="4794"/>
                    <a:pt x="375487" y="0"/>
                    <a:pt x="387554" y="0"/>
                  </a:cubicBezTo>
                  <a:cubicBezTo>
                    <a:pt x="399621" y="0"/>
                    <a:pt x="411194" y="4794"/>
                    <a:pt x="419726" y="13326"/>
                  </a:cubicBezTo>
                  <a:close/>
                </a:path>
              </a:pathLst>
            </a:custGeom>
            <a:solidFill>
              <a:srgbClr val="009CD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12235" y="1676480"/>
            <a:ext cx="6188183" cy="61881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3700" y="6208220"/>
            <a:ext cx="1879012" cy="1656443"/>
            <a:chOff x="0" y="0"/>
            <a:chExt cx="766630" cy="6758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6630" cy="675822"/>
            </a:xfrm>
            <a:custGeom>
              <a:avLst/>
              <a:gdLst/>
              <a:ahLst/>
              <a:cxnLst/>
              <a:rect l="l" t="t" r="r" b="b"/>
              <a:pathLst>
                <a:path w="766630" h="675822">
                  <a:moveTo>
                    <a:pt x="164808" y="0"/>
                  </a:moveTo>
                  <a:lnTo>
                    <a:pt x="601822" y="0"/>
                  </a:lnTo>
                  <a:cubicBezTo>
                    <a:pt x="645532" y="0"/>
                    <a:pt x="687451" y="17364"/>
                    <a:pt x="718359" y="48271"/>
                  </a:cubicBezTo>
                  <a:cubicBezTo>
                    <a:pt x="749266" y="79179"/>
                    <a:pt x="766630" y="121098"/>
                    <a:pt x="766630" y="164808"/>
                  </a:cubicBezTo>
                  <a:lnTo>
                    <a:pt x="766630" y="511014"/>
                  </a:lnTo>
                  <a:cubicBezTo>
                    <a:pt x="766630" y="554724"/>
                    <a:pt x="749266" y="596644"/>
                    <a:pt x="718359" y="627551"/>
                  </a:cubicBezTo>
                  <a:cubicBezTo>
                    <a:pt x="687451" y="658459"/>
                    <a:pt x="645532" y="675822"/>
                    <a:pt x="601822" y="675822"/>
                  </a:cubicBezTo>
                  <a:lnTo>
                    <a:pt x="164808" y="675822"/>
                  </a:lnTo>
                  <a:cubicBezTo>
                    <a:pt x="121098" y="675822"/>
                    <a:pt x="79179" y="658459"/>
                    <a:pt x="48271" y="627551"/>
                  </a:cubicBezTo>
                  <a:cubicBezTo>
                    <a:pt x="17364" y="596644"/>
                    <a:pt x="0" y="554724"/>
                    <a:pt x="0" y="511014"/>
                  </a:cubicBezTo>
                  <a:lnTo>
                    <a:pt x="0" y="164808"/>
                  </a:lnTo>
                  <a:cubicBezTo>
                    <a:pt x="0" y="121098"/>
                    <a:pt x="17364" y="79179"/>
                    <a:pt x="48271" y="48271"/>
                  </a:cubicBezTo>
                  <a:cubicBezTo>
                    <a:pt x="79179" y="17364"/>
                    <a:pt x="121098" y="0"/>
                    <a:pt x="164808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766630" cy="685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346545" y="6208220"/>
            <a:ext cx="1879012" cy="1656443"/>
            <a:chOff x="0" y="0"/>
            <a:chExt cx="766630" cy="6758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6630" cy="675822"/>
            </a:xfrm>
            <a:custGeom>
              <a:avLst/>
              <a:gdLst/>
              <a:ahLst/>
              <a:cxnLst/>
              <a:rect l="l" t="t" r="r" b="b"/>
              <a:pathLst>
                <a:path w="766630" h="675822">
                  <a:moveTo>
                    <a:pt x="164808" y="0"/>
                  </a:moveTo>
                  <a:lnTo>
                    <a:pt x="601822" y="0"/>
                  </a:lnTo>
                  <a:cubicBezTo>
                    <a:pt x="645532" y="0"/>
                    <a:pt x="687451" y="17364"/>
                    <a:pt x="718359" y="48271"/>
                  </a:cubicBezTo>
                  <a:cubicBezTo>
                    <a:pt x="749266" y="79179"/>
                    <a:pt x="766630" y="121098"/>
                    <a:pt x="766630" y="164808"/>
                  </a:cubicBezTo>
                  <a:lnTo>
                    <a:pt x="766630" y="511014"/>
                  </a:lnTo>
                  <a:cubicBezTo>
                    <a:pt x="766630" y="554724"/>
                    <a:pt x="749266" y="596644"/>
                    <a:pt x="718359" y="627551"/>
                  </a:cubicBezTo>
                  <a:cubicBezTo>
                    <a:pt x="687451" y="658459"/>
                    <a:pt x="645532" y="675822"/>
                    <a:pt x="601822" y="675822"/>
                  </a:cubicBezTo>
                  <a:lnTo>
                    <a:pt x="164808" y="675822"/>
                  </a:lnTo>
                  <a:cubicBezTo>
                    <a:pt x="121098" y="675822"/>
                    <a:pt x="79179" y="658459"/>
                    <a:pt x="48271" y="627551"/>
                  </a:cubicBezTo>
                  <a:cubicBezTo>
                    <a:pt x="17364" y="596644"/>
                    <a:pt x="0" y="554724"/>
                    <a:pt x="0" y="511014"/>
                  </a:cubicBezTo>
                  <a:lnTo>
                    <a:pt x="0" y="164808"/>
                  </a:lnTo>
                  <a:cubicBezTo>
                    <a:pt x="0" y="121098"/>
                    <a:pt x="17364" y="79179"/>
                    <a:pt x="48271" y="48271"/>
                  </a:cubicBezTo>
                  <a:cubicBezTo>
                    <a:pt x="79179" y="17364"/>
                    <a:pt x="121098" y="0"/>
                    <a:pt x="164808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766630" cy="685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9390" y="6208220"/>
            <a:ext cx="1879012" cy="1656443"/>
            <a:chOff x="0" y="0"/>
            <a:chExt cx="766630" cy="6758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6630" cy="675822"/>
            </a:xfrm>
            <a:custGeom>
              <a:avLst/>
              <a:gdLst/>
              <a:ahLst/>
              <a:cxnLst/>
              <a:rect l="l" t="t" r="r" b="b"/>
              <a:pathLst>
                <a:path w="766630" h="675822">
                  <a:moveTo>
                    <a:pt x="164808" y="0"/>
                  </a:moveTo>
                  <a:lnTo>
                    <a:pt x="601822" y="0"/>
                  </a:lnTo>
                  <a:cubicBezTo>
                    <a:pt x="645532" y="0"/>
                    <a:pt x="687451" y="17364"/>
                    <a:pt x="718359" y="48271"/>
                  </a:cubicBezTo>
                  <a:cubicBezTo>
                    <a:pt x="749266" y="79179"/>
                    <a:pt x="766630" y="121098"/>
                    <a:pt x="766630" y="164808"/>
                  </a:cubicBezTo>
                  <a:lnTo>
                    <a:pt x="766630" y="511014"/>
                  </a:lnTo>
                  <a:cubicBezTo>
                    <a:pt x="766630" y="554724"/>
                    <a:pt x="749266" y="596644"/>
                    <a:pt x="718359" y="627551"/>
                  </a:cubicBezTo>
                  <a:cubicBezTo>
                    <a:pt x="687451" y="658459"/>
                    <a:pt x="645532" y="675822"/>
                    <a:pt x="601822" y="675822"/>
                  </a:cubicBezTo>
                  <a:lnTo>
                    <a:pt x="164808" y="675822"/>
                  </a:lnTo>
                  <a:cubicBezTo>
                    <a:pt x="121098" y="675822"/>
                    <a:pt x="79179" y="658459"/>
                    <a:pt x="48271" y="627551"/>
                  </a:cubicBezTo>
                  <a:cubicBezTo>
                    <a:pt x="17364" y="596644"/>
                    <a:pt x="0" y="554724"/>
                    <a:pt x="0" y="511014"/>
                  </a:cubicBezTo>
                  <a:lnTo>
                    <a:pt x="0" y="164808"/>
                  </a:lnTo>
                  <a:cubicBezTo>
                    <a:pt x="0" y="121098"/>
                    <a:pt x="17364" y="79179"/>
                    <a:pt x="48271" y="48271"/>
                  </a:cubicBezTo>
                  <a:cubicBezTo>
                    <a:pt x="79179" y="17364"/>
                    <a:pt x="121098" y="0"/>
                    <a:pt x="164808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66630" cy="685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92235" y="6208220"/>
            <a:ext cx="1879012" cy="1656443"/>
            <a:chOff x="0" y="0"/>
            <a:chExt cx="766630" cy="6758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6630" cy="675822"/>
            </a:xfrm>
            <a:custGeom>
              <a:avLst/>
              <a:gdLst/>
              <a:ahLst/>
              <a:cxnLst/>
              <a:rect l="l" t="t" r="r" b="b"/>
              <a:pathLst>
                <a:path w="766630" h="675822">
                  <a:moveTo>
                    <a:pt x="164808" y="0"/>
                  </a:moveTo>
                  <a:lnTo>
                    <a:pt x="601822" y="0"/>
                  </a:lnTo>
                  <a:cubicBezTo>
                    <a:pt x="645532" y="0"/>
                    <a:pt x="687451" y="17364"/>
                    <a:pt x="718359" y="48271"/>
                  </a:cubicBezTo>
                  <a:cubicBezTo>
                    <a:pt x="749266" y="79179"/>
                    <a:pt x="766630" y="121098"/>
                    <a:pt x="766630" y="164808"/>
                  </a:cubicBezTo>
                  <a:lnTo>
                    <a:pt x="766630" y="511014"/>
                  </a:lnTo>
                  <a:cubicBezTo>
                    <a:pt x="766630" y="554724"/>
                    <a:pt x="749266" y="596644"/>
                    <a:pt x="718359" y="627551"/>
                  </a:cubicBezTo>
                  <a:cubicBezTo>
                    <a:pt x="687451" y="658459"/>
                    <a:pt x="645532" y="675822"/>
                    <a:pt x="601822" y="675822"/>
                  </a:cubicBezTo>
                  <a:lnTo>
                    <a:pt x="164808" y="675822"/>
                  </a:lnTo>
                  <a:cubicBezTo>
                    <a:pt x="121098" y="675822"/>
                    <a:pt x="79179" y="658459"/>
                    <a:pt x="48271" y="627551"/>
                  </a:cubicBezTo>
                  <a:cubicBezTo>
                    <a:pt x="17364" y="596644"/>
                    <a:pt x="0" y="554724"/>
                    <a:pt x="0" y="511014"/>
                  </a:cubicBezTo>
                  <a:lnTo>
                    <a:pt x="0" y="164808"/>
                  </a:lnTo>
                  <a:cubicBezTo>
                    <a:pt x="0" y="121098"/>
                    <a:pt x="17364" y="79179"/>
                    <a:pt x="48271" y="48271"/>
                  </a:cubicBezTo>
                  <a:cubicBezTo>
                    <a:pt x="79179" y="17364"/>
                    <a:pt x="121098" y="0"/>
                    <a:pt x="164808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766630" cy="685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65080" y="6208220"/>
            <a:ext cx="1879012" cy="1656443"/>
            <a:chOff x="0" y="0"/>
            <a:chExt cx="766630" cy="6758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6630" cy="675822"/>
            </a:xfrm>
            <a:custGeom>
              <a:avLst/>
              <a:gdLst/>
              <a:ahLst/>
              <a:cxnLst/>
              <a:rect l="l" t="t" r="r" b="b"/>
              <a:pathLst>
                <a:path w="766630" h="675822">
                  <a:moveTo>
                    <a:pt x="164808" y="0"/>
                  </a:moveTo>
                  <a:lnTo>
                    <a:pt x="601822" y="0"/>
                  </a:lnTo>
                  <a:cubicBezTo>
                    <a:pt x="645532" y="0"/>
                    <a:pt x="687451" y="17364"/>
                    <a:pt x="718359" y="48271"/>
                  </a:cubicBezTo>
                  <a:cubicBezTo>
                    <a:pt x="749266" y="79179"/>
                    <a:pt x="766630" y="121098"/>
                    <a:pt x="766630" y="164808"/>
                  </a:cubicBezTo>
                  <a:lnTo>
                    <a:pt x="766630" y="511014"/>
                  </a:lnTo>
                  <a:cubicBezTo>
                    <a:pt x="766630" y="554724"/>
                    <a:pt x="749266" y="596644"/>
                    <a:pt x="718359" y="627551"/>
                  </a:cubicBezTo>
                  <a:cubicBezTo>
                    <a:pt x="687451" y="658459"/>
                    <a:pt x="645532" y="675822"/>
                    <a:pt x="601822" y="675822"/>
                  </a:cubicBezTo>
                  <a:lnTo>
                    <a:pt x="164808" y="675822"/>
                  </a:lnTo>
                  <a:cubicBezTo>
                    <a:pt x="121098" y="675822"/>
                    <a:pt x="79179" y="658459"/>
                    <a:pt x="48271" y="627551"/>
                  </a:cubicBezTo>
                  <a:cubicBezTo>
                    <a:pt x="17364" y="596644"/>
                    <a:pt x="0" y="554724"/>
                    <a:pt x="0" y="511014"/>
                  </a:cubicBezTo>
                  <a:lnTo>
                    <a:pt x="0" y="164808"/>
                  </a:lnTo>
                  <a:cubicBezTo>
                    <a:pt x="0" y="121098"/>
                    <a:pt x="17364" y="79179"/>
                    <a:pt x="48271" y="48271"/>
                  </a:cubicBezTo>
                  <a:cubicBezTo>
                    <a:pt x="79179" y="17364"/>
                    <a:pt x="121098" y="0"/>
                    <a:pt x="164808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66630" cy="685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263679" y="6614115"/>
            <a:ext cx="1274882" cy="859051"/>
          </a:xfrm>
          <a:custGeom>
            <a:avLst/>
            <a:gdLst/>
            <a:ahLst/>
            <a:cxnLst/>
            <a:rect l="l" t="t" r="r" b="b"/>
            <a:pathLst>
              <a:path w="1274882" h="859051">
                <a:moveTo>
                  <a:pt x="0" y="0"/>
                </a:moveTo>
                <a:lnTo>
                  <a:pt x="1274882" y="0"/>
                </a:lnTo>
                <a:lnTo>
                  <a:pt x="1274882" y="859051"/>
                </a:lnTo>
                <a:lnTo>
                  <a:pt x="0" y="859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7" name="Freeform 27"/>
          <p:cNvSpPr/>
          <p:nvPr/>
        </p:nvSpPr>
        <p:spPr>
          <a:xfrm>
            <a:off x="3907418" y="6511604"/>
            <a:ext cx="906653" cy="906653"/>
          </a:xfrm>
          <a:custGeom>
            <a:avLst/>
            <a:gdLst/>
            <a:ahLst/>
            <a:cxnLst/>
            <a:rect l="l" t="t" r="r" b="b"/>
            <a:pathLst>
              <a:path w="906653" h="906653">
                <a:moveTo>
                  <a:pt x="0" y="0"/>
                </a:moveTo>
                <a:lnTo>
                  <a:pt x="906653" y="0"/>
                </a:lnTo>
                <a:lnTo>
                  <a:pt x="906653" y="906653"/>
                </a:lnTo>
                <a:lnTo>
                  <a:pt x="0" y="906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8" name="Freeform 28"/>
          <p:cNvSpPr/>
          <p:nvPr/>
        </p:nvSpPr>
        <p:spPr>
          <a:xfrm>
            <a:off x="6103780" y="6587356"/>
            <a:ext cx="973418" cy="945171"/>
          </a:xfrm>
          <a:custGeom>
            <a:avLst/>
            <a:gdLst/>
            <a:ahLst/>
            <a:cxnLst/>
            <a:rect l="l" t="t" r="r" b="b"/>
            <a:pathLst>
              <a:path w="973418" h="945171">
                <a:moveTo>
                  <a:pt x="0" y="0"/>
                </a:moveTo>
                <a:lnTo>
                  <a:pt x="973417" y="0"/>
                </a:lnTo>
                <a:lnTo>
                  <a:pt x="973417" y="945171"/>
                </a:lnTo>
                <a:lnTo>
                  <a:pt x="0" y="945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9" name="Freeform 29"/>
          <p:cNvSpPr/>
          <p:nvPr/>
        </p:nvSpPr>
        <p:spPr>
          <a:xfrm>
            <a:off x="8386157" y="6409697"/>
            <a:ext cx="1178474" cy="1240081"/>
          </a:xfrm>
          <a:custGeom>
            <a:avLst/>
            <a:gdLst/>
            <a:ahLst/>
            <a:cxnLst/>
            <a:rect l="l" t="t" r="r" b="b"/>
            <a:pathLst>
              <a:path w="1178474" h="1240081">
                <a:moveTo>
                  <a:pt x="0" y="0"/>
                </a:moveTo>
                <a:lnTo>
                  <a:pt x="1178474" y="0"/>
                </a:lnTo>
                <a:lnTo>
                  <a:pt x="1178474" y="1240081"/>
                </a:lnTo>
                <a:lnTo>
                  <a:pt x="0" y="12400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0" name="Freeform 30"/>
          <p:cNvSpPr/>
          <p:nvPr/>
        </p:nvSpPr>
        <p:spPr>
          <a:xfrm>
            <a:off x="10871661" y="6673135"/>
            <a:ext cx="1096377" cy="771443"/>
          </a:xfrm>
          <a:custGeom>
            <a:avLst/>
            <a:gdLst/>
            <a:ahLst/>
            <a:cxnLst/>
            <a:rect l="l" t="t" r="r" b="b"/>
            <a:pathLst>
              <a:path w="1096377" h="771443">
                <a:moveTo>
                  <a:pt x="0" y="0"/>
                </a:moveTo>
                <a:lnTo>
                  <a:pt x="1096377" y="0"/>
                </a:lnTo>
                <a:lnTo>
                  <a:pt x="1096377" y="771443"/>
                </a:lnTo>
                <a:lnTo>
                  <a:pt x="0" y="771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1" name="TextBox 31"/>
          <p:cNvSpPr txBox="1"/>
          <p:nvPr/>
        </p:nvSpPr>
        <p:spPr>
          <a:xfrm>
            <a:off x="578995" y="1427564"/>
            <a:ext cx="9282420" cy="275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415" lvl="1" indent="-188707" algn="l">
              <a:lnSpc>
                <a:spcPts val="2412"/>
              </a:lnSpc>
              <a:buFont typeface="Arial"/>
              <a:buChar char="•"/>
            </a:pPr>
            <a:r>
              <a:rPr lang="en-US" sz="174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PDF product sheets are stored in Azure Blob Storage and indexed by Azure AI Search for fast, grounded retrieval. </a:t>
            </a:r>
          </a:p>
          <a:p>
            <a:pPr algn="l">
              <a:lnSpc>
                <a:spcPts val="2412"/>
              </a:lnSpc>
            </a:pPr>
            <a:endParaRPr lang="en-US" sz="174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77415" lvl="1" indent="-188707" algn="l">
              <a:lnSpc>
                <a:spcPts val="2412"/>
              </a:lnSpc>
              <a:buFont typeface="Arial"/>
              <a:buChar char="•"/>
            </a:pPr>
            <a:r>
              <a:rPr lang="en-US" sz="174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Microsoft Foundry agent uses a deployed base model with file search and knowledge retrieval to answer course-related questions. </a:t>
            </a:r>
            <a:br>
              <a:rPr lang="en-US" sz="174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lang="en-US" sz="174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77415" lvl="1" indent="-188707" algn="l">
              <a:lnSpc>
                <a:spcPts val="2412"/>
              </a:lnSpc>
              <a:buFont typeface="Arial"/>
              <a:buChar char="•"/>
            </a:pPr>
            <a:r>
              <a:rPr lang="en-US" sz="174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Azure Content Understanding scans student invoice PDFs and extracts structured fields from Blob storage. Observability via Application Insights, evaluations, and CI/CD pipelines ensure the solution is production-ready.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5018" y="151811"/>
            <a:ext cx="1166165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 Solution Architecture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3730" y="8026588"/>
            <a:ext cx="1798953" cy="1226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Azure Blob Storage</a:t>
            </a:r>
          </a:p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(PDFs &amp; Invoices)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84472" y="8202801"/>
            <a:ext cx="1403159" cy="92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Azure AI</a:t>
            </a:r>
          </a:p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 Index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29871" y="8026588"/>
            <a:ext cx="2039001" cy="61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Microsoft</a:t>
            </a:r>
          </a:p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Foundry Agent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32265" y="8026588"/>
            <a:ext cx="1798953" cy="61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505110" y="8026588"/>
            <a:ext cx="1838983" cy="61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Observability</a:t>
            </a:r>
          </a:p>
          <a:p>
            <a:pPr marL="0" lvl="0" indent="0" algn="ctr">
              <a:lnSpc>
                <a:spcPts val="2412"/>
              </a:lnSpc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&amp;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05819" y="5105288"/>
            <a:ext cx="42071483" cy="6573669"/>
          </a:xfrm>
          <a:custGeom>
            <a:avLst/>
            <a:gdLst/>
            <a:ahLst/>
            <a:cxnLst/>
            <a:rect l="l" t="t" r="r" b="b"/>
            <a:pathLst>
              <a:path w="42071483" h="6573669">
                <a:moveTo>
                  <a:pt x="0" y="0"/>
                </a:moveTo>
                <a:lnTo>
                  <a:pt x="42071483" y="0"/>
                </a:lnTo>
                <a:lnTo>
                  <a:pt x="42071483" y="6573669"/>
                </a:lnTo>
                <a:lnTo>
                  <a:pt x="0" y="6573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731688" y="0"/>
            <a:ext cx="6556312" cy="10287000"/>
            <a:chOff x="0" y="0"/>
            <a:chExt cx="1015744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5744" cy="1593725"/>
            </a:xfrm>
            <a:custGeom>
              <a:avLst/>
              <a:gdLst/>
              <a:ahLst/>
              <a:cxnLst/>
              <a:rect l="l" t="t" r="r" b="b"/>
              <a:pathLst>
                <a:path w="1015744" h="1593725">
                  <a:moveTo>
                    <a:pt x="0" y="0"/>
                  </a:moveTo>
                  <a:lnTo>
                    <a:pt x="1015744" y="0"/>
                  </a:lnTo>
                  <a:lnTo>
                    <a:pt x="101574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2" r="-12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1617143"/>
            <a:ext cx="4541316" cy="1402131"/>
          </a:xfrm>
          <a:custGeom>
            <a:avLst/>
            <a:gdLst/>
            <a:ahLst/>
            <a:cxnLst/>
            <a:rect l="l" t="t" r="r" b="b"/>
            <a:pathLst>
              <a:path w="4541316" h="1402131">
                <a:moveTo>
                  <a:pt x="0" y="0"/>
                </a:moveTo>
                <a:lnTo>
                  <a:pt x="4541316" y="0"/>
                </a:lnTo>
                <a:lnTo>
                  <a:pt x="4541316" y="1402131"/>
                </a:lnTo>
                <a:lnTo>
                  <a:pt x="0" y="1402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9144000" y="3029789"/>
            <a:ext cx="4541316" cy="1402131"/>
          </a:xfrm>
          <a:custGeom>
            <a:avLst/>
            <a:gdLst/>
            <a:ahLst/>
            <a:cxnLst/>
            <a:rect l="l" t="t" r="r" b="b"/>
            <a:pathLst>
              <a:path w="4541316" h="1402131">
                <a:moveTo>
                  <a:pt x="0" y="0"/>
                </a:moveTo>
                <a:lnTo>
                  <a:pt x="4541316" y="0"/>
                </a:lnTo>
                <a:lnTo>
                  <a:pt x="4541316" y="1402131"/>
                </a:lnTo>
                <a:lnTo>
                  <a:pt x="0" y="1402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9144000" y="4442434"/>
            <a:ext cx="4541316" cy="1402131"/>
          </a:xfrm>
          <a:custGeom>
            <a:avLst/>
            <a:gdLst/>
            <a:ahLst/>
            <a:cxnLst/>
            <a:rect l="l" t="t" r="r" b="b"/>
            <a:pathLst>
              <a:path w="4541316" h="1402131">
                <a:moveTo>
                  <a:pt x="0" y="0"/>
                </a:moveTo>
                <a:lnTo>
                  <a:pt x="4541316" y="0"/>
                </a:lnTo>
                <a:lnTo>
                  <a:pt x="4541316" y="1402132"/>
                </a:lnTo>
                <a:lnTo>
                  <a:pt x="0" y="1402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>
            <a:off x="9144000" y="5855080"/>
            <a:ext cx="4541316" cy="1402131"/>
          </a:xfrm>
          <a:custGeom>
            <a:avLst/>
            <a:gdLst/>
            <a:ahLst/>
            <a:cxnLst/>
            <a:rect l="l" t="t" r="r" b="b"/>
            <a:pathLst>
              <a:path w="4541316" h="1402131">
                <a:moveTo>
                  <a:pt x="0" y="0"/>
                </a:moveTo>
                <a:lnTo>
                  <a:pt x="4541316" y="0"/>
                </a:lnTo>
                <a:lnTo>
                  <a:pt x="4541316" y="1402131"/>
                </a:lnTo>
                <a:lnTo>
                  <a:pt x="0" y="1402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/>
          <p:cNvSpPr/>
          <p:nvPr/>
        </p:nvSpPr>
        <p:spPr>
          <a:xfrm>
            <a:off x="9144000" y="7267726"/>
            <a:ext cx="4541316" cy="1402131"/>
          </a:xfrm>
          <a:custGeom>
            <a:avLst/>
            <a:gdLst/>
            <a:ahLst/>
            <a:cxnLst/>
            <a:rect l="l" t="t" r="r" b="b"/>
            <a:pathLst>
              <a:path w="4541316" h="1402131">
                <a:moveTo>
                  <a:pt x="0" y="0"/>
                </a:moveTo>
                <a:lnTo>
                  <a:pt x="4541316" y="0"/>
                </a:lnTo>
                <a:lnTo>
                  <a:pt x="4541316" y="1402131"/>
                </a:lnTo>
                <a:lnTo>
                  <a:pt x="0" y="1402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TextBox 10"/>
          <p:cNvSpPr txBox="1"/>
          <p:nvPr/>
        </p:nvSpPr>
        <p:spPr>
          <a:xfrm>
            <a:off x="532872" y="494039"/>
            <a:ext cx="7522067" cy="192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27"/>
              </a:lnSpc>
            </a:pPr>
            <a:r>
              <a:rPr lang="en-US" sz="6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Store and Knowledge 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5315" y="3217282"/>
            <a:ext cx="8329229" cy="459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5328" lvl="1" indent="-222664" algn="l">
              <a:lnSpc>
                <a:spcPts val="2846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Each CloudXeus course has a dedicated PDF product sheet stored in Azure Blob Storage. </a:t>
            </a:r>
          </a:p>
          <a:p>
            <a:pPr algn="l">
              <a:lnSpc>
                <a:spcPts val="2846"/>
              </a:lnSpc>
            </a:pPr>
            <a:endParaRPr lang="en-US" sz="206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5328" lvl="1" indent="-222664" algn="l">
              <a:lnSpc>
                <a:spcPts val="2846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documents contain course specifications, exam focus areas, prerequisites, pricing notes, and learning outcomes. </a:t>
            </a:r>
          </a:p>
          <a:p>
            <a:pPr algn="l">
              <a:lnSpc>
                <a:spcPts val="2846"/>
              </a:lnSpc>
            </a:pPr>
            <a:endParaRPr lang="en-US" sz="206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5328" lvl="1" indent="-222664" algn="l">
              <a:lnSpc>
                <a:spcPts val="2846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Blob Storage acts as the central source repository for both course PDFs and student invoice PDFs. </a:t>
            </a:r>
          </a:p>
          <a:p>
            <a:pPr algn="l">
              <a:lnSpc>
                <a:spcPts val="2846"/>
              </a:lnSpc>
            </a:pPr>
            <a:endParaRPr lang="en-US" sz="206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5328" lvl="1" indent="-222664" algn="l">
              <a:lnSpc>
                <a:spcPts val="2846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learn how raw content is ingested, indexed, and transformed into searchable knowledge that powers the AI agent's grounded responses.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552" y="1746867"/>
            <a:ext cx="2508212" cy="77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</a:pPr>
            <a:r>
              <a:rPr lang="en-US" sz="25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AZ-104 product sheet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0552" y="3111888"/>
            <a:ext cx="2508212" cy="77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</a:pPr>
            <a:r>
              <a:rPr lang="en-US" sz="25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AI-901 product sheet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60552" y="4520239"/>
            <a:ext cx="2508212" cy="77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</a:pPr>
            <a:r>
              <a:rPr lang="en-US" sz="25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AI-103 product sheet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552" y="5960163"/>
            <a:ext cx="2508212" cy="77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</a:pPr>
            <a:r>
              <a:rPr lang="en-US" sz="25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DP-600 product sheet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60552" y="7400086"/>
            <a:ext cx="2508212" cy="77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</a:pPr>
            <a:r>
              <a:rPr lang="en-US" sz="25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DP-700 product sheet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3293" y="1831195"/>
            <a:ext cx="344354" cy="59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2"/>
              </a:lnSpc>
            </a:pPr>
            <a:r>
              <a:rPr lang="en-US" sz="3747" b="1">
                <a:solidFill>
                  <a:srgbClr val="05005B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3293" y="3245857"/>
            <a:ext cx="344354" cy="59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2"/>
              </a:lnSpc>
            </a:pPr>
            <a:r>
              <a:rPr lang="en-US" sz="3747" b="1">
                <a:solidFill>
                  <a:srgbClr val="05005B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3293" y="4660520"/>
            <a:ext cx="344354" cy="59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2"/>
              </a:lnSpc>
            </a:pPr>
            <a:r>
              <a:rPr lang="en-US" sz="3747" b="1">
                <a:solidFill>
                  <a:srgbClr val="05005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3293" y="6035366"/>
            <a:ext cx="344354" cy="59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2"/>
              </a:lnSpc>
            </a:pPr>
            <a:r>
              <a:rPr lang="en-US" sz="3747" b="1">
                <a:solidFill>
                  <a:srgbClr val="05005B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33293" y="7485811"/>
            <a:ext cx="344354" cy="59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2"/>
              </a:lnSpc>
            </a:pPr>
            <a:r>
              <a:rPr lang="en-US" sz="3747" b="1">
                <a:solidFill>
                  <a:srgbClr val="05005B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7480" y="6743110"/>
            <a:ext cx="18722959" cy="3713797"/>
            <a:chOff x="0" y="0"/>
            <a:chExt cx="2900676" cy="575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00676" cy="575364"/>
            </a:xfrm>
            <a:custGeom>
              <a:avLst/>
              <a:gdLst/>
              <a:ahLst/>
              <a:cxnLst/>
              <a:rect l="l" t="t" r="r" b="b"/>
              <a:pathLst>
                <a:path w="2900676" h="575364">
                  <a:moveTo>
                    <a:pt x="0" y="0"/>
                  </a:moveTo>
                  <a:lnTo>
                    <a:pt x="2900676" y="0"/>
                  </a:lnTo>
                  <a:lnTo>
                    <a:pt x="2900676" y="575364"/>
                  </a:lnTo>
                  <a:lnTo>
                    <a:pt x="0" y="575364"/>
                  </a:ln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860228" y="1205545"/>
            <a:ext cx="2846289" cy="2509794"/>
            <a:chOff x="0" y="0"/>
            <a:chExt cx="637740" cy="5623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26646" y="1205545"/>
            <a:ext cx="2846289" cy="2509794"/>
            <a:chOff x="0" y="0"/>
            <a:chExt cx="637740" cy="5623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860228" y="3888603"/>
            <a:ext cx="2846289" cy="2509794"/>
            <a:chOff x="0" y="0"/>
            <a:chExt cx="637740" cy="5623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026646" y="3888603"/>
            <a:ext cx="2846289" cy="2509794"/>
            <a:chOff x="0" y="0"/>
            <a:chExt cx="637740" cy="5623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685719" y="1521321"/>
            <a:ext cx="1195307" cy="1248362"/>
          </a:xfrm>
          <a:custGeom>
            <a:avLst/>
            <a:gdLst/>
            <a:ahLst/>
            <a:cxnLst/>
            <a:rect l="l" t="t" r="r" b="b"/>
            <a:pathLst>
              <a:path w="1195307" h="1248362">
                <a:moveTo>
                  <a:pt x="0" y="0"/>
                </a:moveTo>
                <a:lnTo>
                  <a:pt x="1195307" y="0"/>
                </a:lnTo>
                <a:lnTo>
                  <a:pt x="1195307" y="1248363"/>
                </a:lnTo>
                <a:lnTo>
                  <a:pt x="0" y="1248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5014304" y="1681736"/>
            <a:ext cx="981147" cy="1172950"/>
          </a:xfrm>
          <a:custGeom>
            <a:avLst/>
            <a:gdLst/>
            <a:ahLst/>
            <a:cxnLst/>
            <a:rect l="l" t="t" r="r" b="b"/>
            <a:pathLst>
              <a:path w="981147" h="1172950">
                <a:moveTo>
                  <a:pt x="0" y="0"/>
                </a:moveTo>
                <a:lnTo>
                  <a:pt x="981147" y="0"/>
                </a:lnTo>
                <a:lnTo>
                  <a:pt x="981147" y="1172950"/>
                </a:lnTo>
                <a:lnTo>
                  <a:pt x="0" y="117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1800773" y="4319555"/>
            <a:ext cx="1029643" cy="1231033"/>
          </a:xfrm>
          <a:custGeom>
            <a:avLst/>
            <a:gdLst/>
            <a:ahLst/>
            <a:cxnLst/>
            <a:rect l="l" t="t" r="r" b="b"/>
            <a:pathLst>
              <a:path w="1029643" h="1231033">
                <a:moveTo>
                  <a:pt x="0" y="0"/>
                </a:moveTo>
                <a:lnTo>
                  <a:pt x="1029642" y="0"/>
                </a:lnTo>
                <a:lnTo>
                  <a:pt x="1029642" y="1231033"/>
                </a:lnTo>
                <a:lnTo>
                  <a:pt x="0" y="12310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14919442" y="4362397"/>
            <a:ext cx="1053700" cy="1051232"/>
          </a:xfrm>
          <a:custGeom>
            <a:avLst/>
            <a:gdLst/>
            <a:ahLst/>
            <a:cxnLst/>
            <a:rect l="l" t="t" r="r" b="b"/>
            <a:pathLst>
              <a:path w="1053700" h="1051232">
                <a:moveTo>
                  <a:pt x="0" y="0"/>
                </a:moveTo>
                <a:lnTo>
                  <a:pt x="1053700" y="0"/>
                </a:lnTo>
                <a:lnTo>
                  <a:pt x="1053700" y="1051232"/>
                </a:lnTo>
                <a:lnTo>
                  <a:pt x="0" y="1051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TextBox 20"/>
          <p:cNvSpPr txBox="1"/>
          <p:nvPr/>
        </p:nvSpPr>
        <p:spPr>
          <a:xfrm>
            <a:off x="890329" y="306481"/>
            <a:ext cx="7340646" cy="1760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8"/>
              </a:lnSpc>
            </a:pPr>
            <a:r>
              <a:rPr lang="en-US" sz="57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Building the Course</a:t>
            </a:r>
          </a:p>
          <a:p>
            <a:pPr marL="0" lvl="0" indent="0" algn="l">
              <a:lnSpc>
                <a:spcPts val="6708"/>
              </a:lnSpc>
            </a:pPr>
            <a:r>
              <a:rPr lang="en-US" sz="57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4847" y="2522980"/>
            <a:ext cx="7927031" cy="367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043" lvl="1" indent="-208521" algn="l">
              <a:lnSpc>
                <a:spcPts val="2665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CloudXeus course support agent is built on a deployed base model in Microsoft Foundry, connected to a knowledge base derived from course product sheets. </a:t>
            </a:r>
          </a:p>
          <a:p>
            <a:pPr algn="l">
              <a:lnSpc>
                <a:spcPts val="2665"/>
              </a:lnSpc>
            </a:pPr>
            <a:endParaRPr lang="en-US" sz="193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7043" lvl="1" indent="-208521" algn="l">
              <a:lnSpc>
                <a:spcPts val="2665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Agent instructions guide its behavior, ensuring responses are grounded in retrieved course content rather than generic model knowledge. </a:t>
            </a:r>
          </a:p>
          <a:p>
            <a:pPr algn="l">
              <a:lnSpc>
                <a:spcPts val="2665"/>
              </a:lnSpc>
            </a:pPr>
            <a:endParaRPr lang="en-US" sz="193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7043" lvl="1" indent="-208521" algn="l">
              <a:lnSpc>
                <a:spcPts val="2665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learn how retrieval, tools, instructions, and model deployment work together to deliver accurate, traceable answers.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28167" y="2853096"/>
            <a:ext cx="2510410" cy="56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Deployed Model</a:t>
            </a:r>
          </a:p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 Foundry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62525" y="2853096"/>
            <a:ext cx="2174532" cy="56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Base</a:t>
            </a:r>
          </a:p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46281" y="5516805"/>
            <a:ext cx="2674182" cy="56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Grounded Answers</a:t>
            </a:r>
          </a:p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from Documents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62525" y="5516805"/>
            <a:ext cx="2174532" cy="56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Agent Instructions</a:t>
            </a:r>
          </a:p>
          <a:p>
            <a:pPr marL="0" lvl="0" indent="0" algn="ctr">
              <a:lnSpc>
                <a:spcPts val="2217"/>
              </a:lnSpc>
            </a:pPr>
            <a:r>
              <a:rPr lang="en-US" sz="17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and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3933" y="-4747093"/>
            <a:ext cx="8837595" cy="88375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CDF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685" y="4537552"/>
            <a:ext cx="18288000" cy="6616931"/>
          </a:xfrm>
          <a:custGeom>
            <a:avLst/>
            <a:gdLst/>
            <a:ahLst/>
            <a:cxnLst/>
            <a:rect l="l" t="t" r="r" b="b"/>
            <a:pathLst>
              <a:path w="18288000" h="6616931">
                <a:moveTo>
                  <a:pt x="0" y="0"/>
                </a:moveTo>
                <a:lnTo>
                  <a:pt x="18288000" y="0"/>
                </a:lnTo>
                <a:lnTo>
                  <a:pt x="18288000" y="6616930"/>
                </a:lnTo>
                <a:lnTo>
                  <a:pt x="0" y="6616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0" y="520019"/>
            <a:ext cx="8461676" cy="9824878"/>
          </a:xfrm>
          <a:custGeom>
            <a:avLst/>
            <a:gdLst/>
            <a:ahLst/>
            <a:cxnLst/>
            <a:rect l="l" t="t" r="r" b="b"/>
            <a:pathLst>
              <a:path w="8461676" h="9824878">
                <a:moveTo>
                  <a:pt x="0" y="0"/>
                </a:moveTo>
                <a:lnTo>
                  <a:pt x="8461676" y="0"/>
                </a:lnTo>
                <a:lnTo>
                  <a:pt x="8461676" y="9824878"/>
                </a:lnTo>
                <a:lnTo>
                  <a:pt x="0" y="9824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7" name="Group 7"/>
          <p:cNvGrpSpPr/>
          <p:nvPr/>
        </p:nvGrpSpPr>
        <p:grpSpPr>
          <a:xfrm>
            <a:off x="973217" y="1955565"/>
            <a:ext cx="6188183" cy="61881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37031" y="2906634"/>
            <a:ext cx="7578337" cy="587908"/>
            <a:chOff x="0" y="0"/>
            <a:chExt cx="1995941" cy="154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5941" cy="154840"/>
            </a:xfrm>
            <a:custGeom>
              <a:avLst/>
              <a:gdLst/>
              <a:ahLst/>
              <a:cxnLst/>
              <a:rect l="l" t="t" r="r" b="b"/>
              <a:pathLst>
                <a:path w="1995941" h="154840">
                  <a:moveTo>
                    <a:pt x="0" y="0"/>
                  </a:moveTo>
                  <a:lnTo>
                    <a:pt x="1995941" y="0"/>
                  </a:lnTo>
                  <a:lnTo>
                    <a:pt x="1995941" y="154840"/>
                  </a:lnTo>
                  <a:lnTo>
                    <a:pt x="0" y="15484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 sz="2400">
                <a:latin typeface="+mj-l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995941" cy="21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 sz="2400">
                <a:latin typeface="+mj-l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62981" y="3704092"/>
            <a:ext cx="7452386" cy="587908"/>
            <a:chOff x="0" y="0"/>
            <a:chExt cx="1962768" cy="154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2768" cy="154840"/>
            </a:xfrm>
            <a:custGeom>
              <a:avLst/>
              <a:gdLst/>
              <a:ahLst/>
              <a:cxnLst/>
              <a:rect l="l" t="t" r="r" b="b"/>
              <a:pathLst>
                <a:path w="1962768" h="154840">
                  <a:moveTo>
                    <a:pt x="0" y="0"/>
                  </a:moveTo>
                  <a:lnTo>
                    <a:pt x="1962768" y="0"/>
                  </a:lnTo>
                  <a:lnTo>
                    <a:pt x="1962768" y="154840"/>
                  </a:lnTo>
                  <a:lnTo>
                    <a:pt x="0" y="15484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 sz="2400">
                <a:latin typeface="+mj-lt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62768" cy="21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 sz="2400">
                <a:latin typeface="+mj-l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62981" y="4501551"/>
            <a:ext cx="7452386" cy="587908"/>
            <a:chOff x="0" y="0"/>
            <a:chExt cx="1962768" cy="154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2768" cy="154840"/>
            </a:xfrm>
            <a:custGeom>
              <a:avLst/>
              <a:gdLst/>
              <a:ahLst/>
              <a:cxnLst/>
              <a:rect l="l" t="t" r="r" b="b"/>
              <a:pathLst>
                <a:path w="1962768" h="154840">
                  <a:moveTo>
                    <a:pt x="0" y="0"/>
                  </a:moveTo>
                  <a:lnTo>
                    <a:pt x="1962768" y="0"/>
                  </a:lnTo>
                  <a:lnTo>
                    <a:pt x="1962768" y="154840"/>
                  </a:lnTo>
                  <a:lnTo>
                    <a:pt x="0" y="15484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 sz="2400">
                <a:latin typeface="+mj-lt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62768" cy="21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 sz="2400">
                <a:latin typeface="+mj-l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62981" y="5299009"/>
            <a:ext cx="7452386" cy="587908"/>
            <a:chOff x="0" y="0"/>
            <a:chExt cx="1962768" cy="1548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2768" cy="154840"/>
            </a:xfrm>
            <a:custGeom>
              <a:avLst/>
              <a:gdLst/>
              <a:ahLst/>
              <a:cxnLst/>
              <a:rect l="l" t="t" r="r" b="b"/>
              <a:pathLst>
                <a:path w="1962768" h="154840">
                  <a:moveTo>
                    <a:pt x="0" y="0"/>
                  </a:moveTo>
                  <a:lnTo>
                    <a:pt x="1962768" y="0"/>
                  </a:lnTo>
                  <a:lnTo>
                    <a:pt x="1962768" y="154840"/>
                  </a:lnTo>
                  <a:lnTo>
                    <a:pt x="0" y="15484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 sz="2400">
                <a:latin typeface="+mj-lt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962768" cy="21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 sz="2400">
                <a:latin typeface="+mj-lt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9333026" y="2870633"/>
            <a:ext cx="659910" cy="659910"/>
          </a:xfrm>
          <a:custGeom>
            <a:avLst/>
            <a:gdLst/>
            <a:ahLst/>
            <a:cxnLst/>
            <a:rect l="l" t="t" r="r" b="b"/>
            <a:pathLst>
              <a:path w="659910" h="659910">
                <a:moveTo>
                  <a:pt x="0" y="0"/>
                </a:moveTo>
                <a:lnTo>
                  <a:pt x="659910" y="0"/>
                </a:lnTo>
                <a:lnTo>
                  <a:pt x="659910" y="659910"/>
                </a:lnTo>
                <a:lnTo>
                  <a:pt x="0" y="659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2400">
              <a:latin typeface="+mj-l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76959" y="491444"/>
            <a:ext cx="7340646" cy="138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89"/>
              </a:lnSpc>
            </a:pPr>
            <a:r>
              <a:rPr lang="en-US" sz="452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Restricting the Agent with System Instructions</a:t>
            </a:r>
          </a:p>
        </p:txBody>
      </p:sp>
      <p:sp>
        <p:nvSpPr>
          <p:cNvPr id="23" name="Freeform 23"/>
          <p:cNvSpPr/>
          <p:nvPr/>
        </p:nvSpPr>
        <p:spPr>
          <a:xfrm>
            <a:off x="9333026" y="3668092"/>
            <a:ext cx="659910" cy="659910"/>
          </a:xfrm>
          <a:custGeom>
            <a:avLst/>
            <a:gdLst/>
            <a:ahLst/>
            <a:cxnLst/>
            <a:rect l="l" t="t" r="r" b="b"/>
            <a:pathLst>
              <a:path w="659910" h="659910">
                <a:moveTo>
                  <a:pt x="0" y="0"/>
                </a:moveTo>
                <a:lnTo>
                  <a:pt x="659910" y="0"/>
                </a:lnTo>
                <a:lnTo>
                  <a:pt x="659910" y="659910"/>
                </a:lnTo>
                <a:lnTo>
                  <a:pt x="0" y="659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2400">
              <a:latin typeface="+mj-lt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9333026" y="4465550"/>
            <a:ext cx="659910" cy="659910"/>
          </a:xfrm>
          <a:custGeom>
            <a:avLst/>
            <a:gdLst/>
            <a:ahLst/>
            <a:cxnLst/>
            <a:rect l="l" t="t" r="r" b="b"/>
            <a:pathLst>
              <a:path w="659910" h="659910">
                <a:moveTo>
                  <a:pt x="0" y="0"/>
                </a:moveTo>
                <a:lnTo>
                  <a:pt x="659910" y="0"/>
                </a:lnTo>
                <a:lnTo>
                  <a:pt x="659910" y="659910"/>
                </a:lnTo>
                <a:lnTo>
                  <a:pt x="0" y="659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2400">
              <a:latin typeface="+mj-lt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9333026" y="5263009"/>
            <a:ext cx="659910" cy="659910"/>
          </a:xfrm>
          <a:custGeom>
            <a:avLst/>
            <a:gdLst/>
            <a:ahLst/>
            <a:cxnLst/>
            <a:rect l="l" t="t" r="r" b="b"/>
            <a:pathLst>
              <a:path w="659910" h="659910">
                <a:moveTo>
                  <a:pt x="0" y="0"/>
                </a:moveTo>
                <a:lnTo>
                  <a:pt x="659910" y="0"/>
                </a:lnTo>
                <a:lnTo>
                  <a:pt x="659910" y="659910"/>
                </a:lnTo>
                <a:lnTo>
                  <a:pt x="0" y="659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2400">
              <a:latin typeface="+mj-l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157441" y="3019377"/>
            <a:ext cx="4422785" cy="46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97"/>
              </a:lnSpc>
            </a:pPr>
            <a:r>
              <a:rPr lang="en-US" sz="2400">
                <a:solidFill>
                  <a:srgbClr val="FFFFFF"/>
                </a:solidFill>
                <a:latin typeface="+mj-lt"/>
                <a:ea typeface="Poppins"/>
                <a:cs typeface="Poppins"/>
                <a:sym typeface="Poppins"/>
              </a:rPr>
              <a:t>Define agent role as CloudXeus course support assistant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57441" y="3816835"/>
            <a:ext cx="5610811" cy="46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97"/>
              </a:lnSpc>
            </a:pPr>
            <a:r>
              <a:rPr lang="en-US" sz="2400">
                <a:solidFill>
                  <a:srgbClr val="FFFFFF"/>
                </a:solidFill>
                <a:latin typeface="+mj-lt"/>
                <a:ea typeface="Poppins"/>
                <a:cs typeface="Poppins"/>
                <a:sym typeface="Poppins"/>
              </a:rPr>
              <a:t>Answer only from product-related course documents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57441" y="4614294"/>
            <a:ext cx="5934818" cy="2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97"/>
              </a:lnSpc>
            </a:pPr>
            <a:r>
              <a:rPr lang="en-US" sz="2400">
                <a:solidFill>
                  <a:srgbClr val="FFFFFF"/>
                </a:solidFill>
                <a:latin typeface="+mj-lt"/>
                <a:ea typeface="Poppins"/>
                <a:cs typeface="Poppins"/>
                <a:sym typeface="Poppins"/>
              </a:rPr>
              <a:t>Politely refuse or clarify out-of-scope questions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57441" y="5411752"/>
            <a:ext cx="6858839" cy="46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97"/>
              </a:lnSpc>
            </a:pPr>
            <a:r>
              <a:rPr lang="en-US" sz="2400">
                <a:solidFill>
                  <a:srgbClr val="FFFFFF"/>
                </a:solidFill>
                <a:latin typeface="+mj-lt"/>
                <a:ea typeface="Poppins"/>
                <a:cs typeface="Poppins"/>
                <a:sym typeface="Poppins"/>
              </a:rPr>
              <a:t>System instructions as control layer, not a guardrail replacement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7480" y="6743110"/>
            <a:ext cx="18722959" cy="3713797"/>
            <a:chOff x="0" y="0"/>
            <a:chExt cx="2900676" cy="575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00676" cy="575364"/>
            </a:xfrm>
            <a:custGeom>
              <a:avLst/>
              <a:gdLst/>
              <a:ahLst/>
              <a:cxnLst/>
              <a:rect l="l" t="t" r="r" b="b"/>
              <a:pathLst>
                <a:path w="2900676" h="575364">
                  <a:moveTo>
                    <a:pt x="0" y="0"/>
                  </a:moveTo>
                  <a:lnTo>
                    <a:pt x="2900676" y="0"/>
                  </a:lnTo>
                  <a:lnTo>
                    <a:pt x="2900676" y="575364"/>
                  </a:lnTo>
                  <a:lnTo>
                    <a:pt x="0" y="575364"/>
                  </a:ln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860228" y="1205545"/>
            <a:ext cx="2846289" cy="2509794"/>
            <a:chOff x="0" y="0"/>
            <a:chExt cx="637740" cy="5623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26646" y="1205545"/>
            <a:ext cx="2846289" cy="2509794"/>
            <a:chOff x="0" y="0"/>
            <a:chExt cx="637740" cy="5623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860228" y="3888603"/>
            <a:ext cx="2846289" cy="2509794"/>
            <a:chOff x="0" y="0"/>
            <a:chExt cx="637740" cy="5623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026646" y="3888603"/>
            <a:ext cx="2846289" cy="2509794"/>
            <a:chOff x="0" y="0"/>
            <a:chExt cx="637740" cy="5623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749936" y="1588815"/>
            <a:ext cx="1056227" cy="1399663"/>
          </a:xfrm>
          <a:custGeom>
            <a:avLst/>
            <a:gdLst/>
            <a:ahLst/>
            <a:cxnLst/>
            <a:rect l="l" t="t" r="r" b="b"/>
            <a:pathLst>
              <a:path w="1056227" h="1399663">
                <a:moveTo>
                  <a:pt x="0" y="0"/>
                </a:moveTo>
                <a:lnTo>
                  <a:pt x="1056227" y="0"/>
                </a:lnTo>
                <a:lnTo>
                  <a:pt x="1056227" y="1399663"/>
                </a:lnTo>
                <a:lnTo>
                  <a:pt x="0" y="139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4925025" y="1740037"/>
            <a:ext cx="1041239" cy="1039474"/>
          </a:xfrm>
          <a:custGeom>
            <a:avLst/>
            <a:gdLst/>
            <a:ahLst/>
            <a:cxnLst/>
            <a:rect l="l" t="t" r="r" b="b"/>
            <a:pathLst>
              <a:path w="1041239" h="1039474">
                <a:moveTo>
                  <a:pt x="0" y="0"/>
                </a:moveTo>
                <a:lnTo>
                  <a:pt x="1041239" y="0"/>
                </a:lnTo>
                <a:lnTo>
                  <a:pt x="1041239" y="1039474"/>
                </a:lnTo>
                <a:lnTo>
                  <a:pt x="0" y="1039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1833932" y="4368369"/>
            <a:ext cx="939827" cy="1221775"/>
          </a:xfrm>
          <a:custGeom>
            <a:avLst/>
            <a:gdLst/>
            <a:ahLst/>
            <a:cxnLst/>
            <a:rect l="l" t="t" r="r" b="b"/>
            <a:pathLst>
              <a:path w="939827" h="1221775">
                <a:moveTo>
                  <a:pt x="0" y="0"/>
                </a:moveTo>
                <a:lnTo>
                  <a:pt x="939827" y="0"/>
                </a:lnTo>
                <a:lnTo>
                  <a:pt x="939827" y="1221775"/>
                </a:lnTo>
                <a:lnTo>
                  <a:pt x="0" y="1221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14928398" y="4307323"/>
            <a:ext cx="1053700" cy="1092726"/>
          </a:xfrm>
          <a:custGeom>
            <a:avLst/>
            <a:gdLst/>
            <a:ahLst/>
            <a:cxnLst/>
            <a:rect l="l" t="t" r="r" b="b"/>
            <a:pathLst>
              <a:path w="1053700" h="1092726">
                <a:moveTo>
                  <a:pt x="0" y="0"/>
                </a:moveTo>
                <a:lnTo>
                  <a:pt x="1053700" y="0"/>
                </a:lnTo>
                <a:lnTo>
                  <a:pt x="1053700" y="1092726"/>
                </a:lnTo>
                <a:lnTo>
                  <a:pt x="0" y="109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TextBox 20"/>
          <p:cNvSpPr txBox="1"/>
          <p:nvPr/>
        </p:nvSpPr>
        <p:spPr>
          <a:xfrm>
            <a:off x="544402" y="217971"/>
            <a:ext cx="9300899" cy="99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22"/>
              </a:lnSpc>
            </a:pPr>
            <a:r>
              <a:rPr lang="en-US" sz="62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Strategy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4402" y="1733306"/>
            <a:ext cx="7927031" cy="344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698" lvl="1" indent="-214349" algn="l">
              <a:lnSpc>
                <a:spcPts val="2740"/>
              </a:lnSpc>
              <a:buFont typeface="Arial"/>
              <a:buChar char="•"/>
            </a:pPr>
            <a:r>
              <a:rPr lang="en-US" sz="1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Evaluations convert subjective response checks into repeatable, measurable quality gates. </a:t>
            </a:r>
          </a:p>
          <a:p>
            <a:pPr algn="l">
              <a:lnSpc>
                <a:spcPts val="2740"/>
              </a:lnSpc>
            </a:pPr>
            <a:endParaRPr lang="en-US" sz="198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28698" lvl="1" indent="-214349" algn="l">
              <a:lnSpc>
                <a:spcPts val="2740"/>
              </a:lnSpc>
              <a:buFont typeface="Arial"/>
              <a:buChar char="•"/>
            </a:pPr>
            <a:r>
              <a:rPr lang="en-US" sz="1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each CloudXeus course, test prompts are designed to verify groundedness, relevance, and retrieval accuracy.</a:t>
            </a:r>
          </a:p>
          <a:p>
            <a:pPr algn="l">
              <a:lnSpc>
                <a:spcPts val="2740"/>
              </a:lnSpc>
            </a:pPr>
            <a:endParaRPr lang="en-US" sz="198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28698" lvl="1" indent="-214349" algn="l">
              <a:lnSpc>
                <a:spcPts val="2740"/>
              </a:lnSpc>
              <a:buFont typeface="Arial"/>
              <a:buChar char="•"/>
            </a:pPr>
            <a:r>
              <a:rPr lang="en-US" sz="19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Negative prompts confirm the agent refuses out-of-scope questions. This systematic approach ensures the agent behaves reliably before and after any change to the model, instructions, or knowledge base.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28167" y="2853096"/>
            <a:ext cx="2510410" cy="60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6"/>
              </a:lnSpc>
            </a:pPr>
            <a:r>
              <a:rPr lang="en-US" sz="1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Response Quality &amp; Groundedness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62525" y="2853096"/>
            <a:ext cx="2174532" cy="60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6"/>
              </a:lnSpc>
            </a:pPr>
            <a:r>
              <a:rPr lang="en-US" sz="1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Relevance &amp; Retrieval Testing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46281" y="5516805"/>
            <a:ext cx="2674182" cy="60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6"/>
              </a:lnSpc>
            </a:pPr>
            <a:r>
              <a:rPr lang="en-US" sz="1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Negative Prompt Verification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62525" y="5516805"/>
            <a:ext cx="2174532" cy="60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6"/>
              </a:lnSpc>
            </a:pPr>
            <a:r>
              <a:rPr lang="en-US" sz="1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Repeatable Quality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7480" y="6743110"/>
            <a:ext cx="18722959" cy="3713797"/>
            <a:chOff x="0" y="0"/>
            <a:chExt cx="2900676" cy="575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00676" cy="575364"/>
            </a:xfrm>
            <a:custGeom>
              <a:avLst/>
              <a:gdLst/>
              <a:ahLst/>
              <a:cxnLst/>
              <a:rect l="l" t="t" r="r" b="b"/>
              <a:pathLst>
                <a:path w="2900676" h="575364">
                  <a:moveTo>
                    <a:pt x="0" y="0"/>
                  </a:moveTo>
                  <a:lnTo>
                    <a:pt x="2900676" y="0"/>
                  </a:lnTo>
                  <a:lnTo>
                    <a:pt x="2900676" y="575364"/>
                  </a:lnTo>
                  <a:lnTo>
                    <a:pt x="0" y="575364"/>
                  </a:ln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860228" y="1205545"/>
            <a:ext cx="2846289" cy="2509794"/>
            <a:chOff x="0" y="0"/>
            <a:chExt cx="637740" cy="5623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26646" y="1205545"/>
            <a:ext cx="2846289" cy="2509794"/>
            <a:chOff x="0" y="0"/>
            <a:chExt cx="637740" cy="5623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860228" y="3888603"/>
            <a:ext cx="2846289" cy="2509794"/>
            <a:chOff x="0" y="0"/>
            <a:chExt cx="637740" cy="5623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026646" y="3888603"/>
            <a:ext cx="2846289" cy="2509794"/>
            <a:chOff x="0" y="0"/>
            <a:chExt cx="637740" cy="5623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7740" cy="562345"/>
            </a:xfrm>
            <a:custGeom>
              <a:avLst/>
              <a:gdLst/>
              <a:ahLst/>
              <a:cxnLst/>
              <a:rect l="l" t="t" r="r" b="b"/>
              <a:pathLst>
                <a:path w="637740" h="562345">
                  <a:moveTo>
                    <a:pt x="62560" y="0"/>
                  </a:moveTo>
                  <a:lnTo>
                    <a:pt x="575180" y="0"/>
                  </a:lnTo>
                  <a:cubicBezTo>
                    <a:pt x="609731" y="0"/>
                    <a:pt x="637740" y="28009"/>
                    <a:pt x="637740" y="62560"/>
                  </a:cubicBezTo>
                  <a:lnTo>
                    <a:pt x="637740" y="499785"/>
                  </a:lnTo>
                  <a:cubicBezTo>
                    <a:pt x="637740" y="516377"/>
                    <a:pt x="631149" y="532289"/>
                    <a:pt x="619417" y="544021"/>
                  </a:cubicBezTo>
                  <a:cubicBezTo>
                    <a:pt x="607684" y="555754"/>
                    <a:pt x="591772" y="562345"/>
                    <a:pt x="575180" y="562345"/>
                  </a:cubicBezTo>
                  <a:lnTo>
                    <a:pt x="62560" y="562345"/>
                  </a:lnTo>
                  <a:cubicBezTo>
                    <a:pt x="45968" y="562345"/>
                    <a:pt x="30056" y="555754"/>
                    <a:pt x="18323" y="544021"/>
                  </a:cubicBezTo>
                  <a:cubicBezTo>
                    <a:pt x="6591" y="532289"/>
                    <a:pt x="0" y="516377"/>
                    <a:pt x="0" y="499785"/>
                  </a:cubicBezTo>
                  <a:lnTo>
                    <a:pt x="0" y="62560"/>
                  </a:lnTo>
                  <a:cubicBezTo>
                    <a:pt x="0" y="45968"/>
                    <a:pt x="6591" y="30056"/>
                    <a:pt x="18323" y="18323"/>
                  </a:cubicBezTo>
                  <a:cubicBezTo>
                    <a:pt x="30056" y="6591"/>
                    <a:pt x="45968" y="0"/>
                    <a:pt x="62560" y="0"/>
                  </a:cubicBez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37740" cy="61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46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824987" y="1666594"/>
            <a:ext cx="925201" cy="1147447"/>
          </a:xfrm>
          <a:custGeom>
            <a:avLst/>
            <a:gdLst/>
            <a:ahLst/>
            <a:cxnLst/>
            <a:rect l="l" t="t" r="r" b="b"/>
            <a:pathLst>
              <a:path w="925201" h="1147447">
                <a:moveTo>
                  <a:pt x="0" y="0"/>
                </a:moveTo>
                <a:lnTo>
                  <a:pt x="925201" y="0"/>
                </a:lnTo>
                <a:lnTo>
                  <a:pt x="925201" y="1147447"/>
                </a:lnTo>
                <a:lnTo>
                  <a:pt x="0" y="1147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5040979" y="1739485"/>
            <a:ext cx="834649" cy="1011313"/>
          </a:xfrm>
          <a:custGeom>
            <a:avLst/>
            <a:gdLst/>
            <a:ahLst/>
            <a:cxnLst/>
            <a:rect l="l" t="t" r="r" b="b"/>
            <a:pathLst>
              <a:path w="834649" h="1011313">
                <a:moveTo>
                  <a:pt x="0" y="0"/>
                </a:moveTo>
                <a:lnTo>
                  <a:pt x="834649" y="0"/>
                </a:lnTo>
                <a:lnTo>
                  <a:pt x="834649" y="1011313"/>
                </a:lnTo>
                <a:lnTo>
                  <a:pt x="0" y="101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1874399" y="4393733"/>
            <a:ext cx="870970" cy="1095541"/>
          </a:xfrm>
          <a:custGeom>
            <a:avLst/>
            <a:gdLst/>
            <a:ahLst/>
            <a:cxnLst/>
            <a:rect l="l" t="t" r="r" b="b"/>
            <a:pathLst>
              <a:path w="870970" h="1095541">
                <a:moveTo>
                  <a:pt x="0" y="0"/>
                </a:moveTo>
                <a:lnTo>
                  <a:pt x="870970" y="0"/>
                </a:lnTo>
                <a:lnTo>
                  <a:pt x="870970" y="1095541"/>
                </a:lnTo>
                <a:lnTo>
                  <a:pt x="0" y="1095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14932764" y="4323468"/>
            <a:ext cx="1052561" cy="939410"/>
          </a:xfrm>
          <a:custGeom>
            <a:avLst/>
            <a:gdLst/>
            <a:ahLst/>
            <a:cxnLst/>
            <a:rect l="l" t="t" r="r" b="b"/>
            <a:pathLst>
              <a:path w="1052561" h="939410">
                <a:moveTo>
                  <a:pt x="0" y="0"/>
                </a:moveTo>
                <a:lnTo>
                  <a:pt x="1052561" y="0"/>
                </a:lnTo>
                <a:lnTo>
                  <a:pt x="1052561" y="939410"/>
                </a:lnTo>
                <a:lnTo>
                  <a:pt x="0" y="939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TextBox 20"/>
          <p:cNvSpPr txBox="1"/>
          <p:nvPr/>
        </p:nvSpPr>
        <p:spPr>
          <a:xfrm>
            <a:off x="913391" y="295270"/>
            <a:ext cx="7340646" cy="14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19"/>
              </a:lnSpc>
            </a:pPr>
            <a:r>
              <a:rPr lang="en-US" sz="471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Processing with Content Understanding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3391" y="2269928"/>
            <a:ext cx="7927031" cy="3534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6"/>
              </a:lnSpc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Azure Content Understanding analyzes student invoice PDFs stored in Blob Storage. </a:t>
            </a:r>
          </a:p>
          <a:p>
            <a:pPr marL="0" lvl="0" indent="0" algn="l">
              <a:lnSpc>
                <a:spcPts val="2846"/>
              </a:lnSpc>
            </a:pPr>
            <a:endParaRPr lang="en-US" sz="206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846"/>
              </a:lnSpc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extracts structured fields automatically — including student name, invoice number, course name, amount, date, and payment details. </a:t>
            </a:r>
          </a:p>
          <a:p>
            <a:pPr marL="0" lvl="0" indent="0" algn="l">
              <a:lnSpc>
                <a:spcPts val="2846"/>
              </a:lnSpc>
            </a:pPr>
            <a:endParaRPr lang="en-US" sz="206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846"/>
              </a:lnSpc>
            </a:pPr>
            <a:r>
              <a:rPr lang="en-US" sz="20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Extracted data can be reviewed, stored, or passed to downstream workflows for billing, reporting, or CRM integration.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28167" y="2862621"/>
            <a:ext cx="2510410" cy="49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</a:pPr>
            <a:r>
              <a:rPr lang="en-US" sz="15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PDF Ingestion from Blob Storage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62525" y="2862621"/>
            <a:ext cx="2174532" cy="49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</a:pPr>
            <a:r>
              <a:rPr lang="en-US" sz="15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 Field Extraction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46281" y="5526330"/>
            <a:ext cx="2674182" cy="49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</a:pPr>
            <a:r>
              <a:rPr lang="en-US" sz="15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Fields: Name, Date, Amount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62525" y="5526330"/>
            <a:ext cx="2174532" cy="49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</a:pPr>
            <a:r>
              <a:rPr lang="en-US" sz="15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Downstream Workflow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>
            <a:off x="0" y="5156603"/>
            <a:ext cx="18288000" cy="6616931"/>
          </a:xfrm>
          <a:custGeom>
            <a:avLst/>
            <a:gdLst/>
            <a:ahLst/>
            <a:cxnLst/>
            <a:rect l="l" t="t" r="r" b="b"/>
            <a:pathLst>
              <a:path w="18288000" h="6616931">
                <a:moveTo>
                  <a:pt x="0" y="0"/>
                </a:moveTo>
                <a:lnTo>
                  <a:pt x="18288000" y="0"/>
                </a:lnTo>
                <a:lnTo>
                  <a:pt x="18288000" y="6616931"/>
                </a:lnTo>
                <a:lnTo>
                  <a:pt x="0" y="6616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7301889" y="-221455"/>
            <a:ext cx="11192886" cy="11192886"/>
          </a:xfrm>
          <a:custGeom>
            <a:avLst/>
            <a:gdLst/>
            <a:ahLst/>
            <a:cxnLst/>
            <a:rect l="l" t="t" r="r" b="b"/>
            <a:pathLst>
              <a:path w="11192886" h="11192886">
                <a:moveTo>
                  <a:pt x="0" y="0"/>
                </a:moveTo>
                <a:lnTo>
                  <a:pt x="11192887" y="0"/>
                </a:lnTo>
                <a:lnTo>
                  <a:pt x="11192887" y="11192886"/>
                </a:lnTo>
                <a:lnTo>
                  <a:pt x="0" y="1119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5" name="Group 5"/>
          <p:cNvGrpSpPr/>
          <p:nvPr/>
        </p:nvGrpSpPr>
        <p:grpSpPr>
          <a:xfrm>
            <a:off x="12898332" y="18239"/>
            <a:ext cx="10713498" cy="107134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>
                <a:alphaModFix amt="49000"/>
              </a:blip>
              <a:stretch>
                <a:fillRect l="-38888" r="-38888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619739" y="6059378"/>
            <a:ext cx="8900298" cy="4301439"/>
            <a:chOff x="0" y="0"/>
            <a:chExt cx="812800" cy="392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92819"/>
            </a:xfrm>
            <a:custGeom>
              <a:avLst/>
              <a:gdLst/>
              <a:ahLst/>
              <a:cxnLst/>
              <a:rect l="l" t="t" r="r" b="b"/>
              <a:pathLst>
                <a:path w="812800" h="392819">
                  <a:moveTo>
                    <a:pt x="406400" y="0"/>
                  </a:moveTo>
                  <a:lnTo>
                    <a:pt x="812800" y="392819"/>
                  </a:lnTo>
                  <a:lnTo>
                    <a:pt x="0" y="39281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9CD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000" y="144280"/>
              <a:ext cx="558800" cy="220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703334" y="6570127"/>
            <a:ext cx="8205865" cy="884220"/>
            <a:chOff x="0" y="0"/>
            <a:chExt cx="1886609" cy="2032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86609" cy="203291"/>
            </a:xfrm>
            <a:custGeom>
              <a:avLst/>
              <a:gdLst/>
              <a:ahLst/>
              <a:cxnLst/>
              <a:rect l="l" t="t" r="r" b="b"/>
              <a:pathLst>
                <a:path w="1886609" h="203291">
                  <a:moveTo>
                    <a:pt x="94346" y="0"/>
                  </a:moveTo>
                  <a:lnTo>
                    <a:pt x="1792263" y="0"/>
                  </a:lnTo>
                  <a:cubicBezTo>
                    <a:pt x="1817285" y="0"/>
                    <a:pt x="1841283" y="9940"/>
                    <a:pt x="1858976" y="27633"/>
                  </a:cubicBezTo>
                  <a:cubicBezTo>
                    <a:pt x="1876669" y="45327"/>
                    <a:pt x="1886609" y="69324"/>
                    <a:pt x="1886609" y="94346"/>
                  </a:cubicBezTo>
                  <a:lnTo>
                    <a:pt x="1886609" y="108945"/>
                  </a:lnTo>
                  <a:cubicBezTo>
                    <a:pt x="1886609" y="133967"/>
                    <a:pt x="1876669" y="157964"/>
                    <a:pt x="1858976" y="175657"/>
                  </a:cubicBezTo>
                  <a:cubicBezTo>
                    <a:pt x="1841283" y="193351"/>
                    <a:pt x="1817285" y="203291"/>
                    <a:pt x="1792263" y="203291"/>
                  </a:cubicBezTo>
                  <a:lnTo>
                    <a:pt x="94346" y="203291"/>
                  </a:lnTo>
                  <a:cubicBezTo>
                    <a:pt x="69324" y="203291"/>
                    <a:pt x="45327" y="193351"/>
                    <a:pt x="27633" y="175657"/>
                  </a:cubicBezTo>
                  <a:cubicBezTo>
                    <a:pt x="9940" y="157964"/>
                    <a:pt x="0" y="133967"/>
                    <a:pt x="0" y="108945"/>
                  </a:cubicBezTo>
                  <a:lnTo>
                    <a:pt x="0" y="94346"/>
                  </a:lnTo>
                  <a:cubicBezTo>
                    <a:pt x="0" y="69324"/>
                    <a:pt x="9940" y="45327"/>
                    <a:pt x="27633" y="27633"/>
                  </a:cubicBezTo>
                  <a:cubicBezTo>
                    <a:pt x="45327" y="9940"/>
                    <a:pt x="69324" y="0"/>
                    <a:pt x="94346" y="0"/>
                  </a:cubicBezTo>
                  <a:close/>
                </a:path>
              </a:pathLst>
            </a:custGeom>
            <a:solidFill>
              <a:srgbClr val="2F6DA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86609" cy="241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829857" y="1358318"/>
            <a:ext cx="7271030" cy="7007455"/>
          </a:xfrm>
          <a:custGeom>
            <a:avLst/>
            <a:gdLst/>
            <a:ahLst/>
            <a:cxnLst/>
            <a:rect l="l" t="t" r="r" b="b"/>
            <a:pathLst>
              <a:path w="7271030" h="7007455">
                <a:moveTo>
                  <a:pt x="0" y="0"/>
                </a:moveTo>
                <a:lnTo>
                  <a:pt x="7271029" y="0"/>
                </a:lnTo>
                <a:lnTo>
                  <a:pt x="7271029" y="7007454"/>
                </a:lnTo>
                <a:lnTo>
                  <a:pt x="0" y="7007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14" name="Group 14"/>
          <p:cNvGrpSpPr/>
          <p:nvPr/>
        </p:nvGrpSpPr>
        <p:grpSpPr>
          <a:xfrm rot="-2700000">
            <a:off x="9799408" y="-1237863"/>
            <a:ext cx="866966" cy="5192361"/>
            <a:chOff x="0" y="0"/>
            <a:chExt cx="228337" cy="13675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8337" cy="1367536"/>
            </a:xfrm>
            <a:custGeom>
              <a:avLst/>
              <a:gdLst/>
              <a:ahLst/>
              <a:cxnLst/>
              <a:rect l="l" t="t" r="r" b="b"/>
              <a:pathLst>
                <a:path w="228337" h="1367536">
                  <a:moveTo>
                    <a:pt x="0" y="0"/>
                  </a:moveTo>
                  <a:lnTo>
                    <a:pt x="228337" y="0"/>
                  </a:lnTo>
                  <a:lnTo>
                    <a:pt x="228337" y="1367536"/>
                  </a:lnTo>
                  <a:lnTo>
                    <a:pt x="0" y="1367536"/>
                  </a:lnTo>
                  <a:close/>
                </a:path>
              </a:pathLst>
            </a:custGeom>
            <a:gradFill rotWithShape="1">
              <a:gsLst>
                <a:gs pos="0">
                  <a:srgbClr val="004AAC">
                    <a:alpha val="100000"/>
                  </a:srgbClr>
                </a:gs>
                <a:gs pos="100000">
                  <a:srgbClr val="00265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28337" cy="137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82056" y="1803973"/>
            <a:ext cx="5982794" cy="598279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28700" y="761344"/>
            <a:ext cx="470161" cy="486583"/>
          </a:xfrm>
          <a:custGeom>
            <a:avLst/>
            <a:gdLst/>
            <a:ahLst/>
            <a:cxnLst/>
            <a:rect l="l" t="t" r="r" b="b"/>
            <a:pathLst>
              <a:path w="470161" h="486583">
                <a:moveTo>
                  <a:pt x="0" y="0"/>
                </a:moveTo>
                <a:lnTo>
                  <a:pt x="470161" y="0"/>
                </a:lnTo>
                <a:lnTo>
                  <a:pt x="470161" y="486583"/>
                </a:lnTo>
                <a:lnTo>
                  <a:pt x="0" y="48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TextBox 20"/>
          <p:cNvSpPr txBox="1"/>
          <p:nvPr/>
        </p:nvSpPr>
        <p:spPr>
          <a:xfrm>
            <a:off x="1028700" y="1737298"/>
            <a:ext cx="7295874" cy="151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26"/>
              </a:lnSpc>
            </a:pPr>
            <a:r>
              <a:rPr lang="en-US" sz="9509" b="1">
                <a:solidFill>
                  <a:srgbClr val="63CDF6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647901"/>
            <a:ext cx="5683801" cy="3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13"/>
              </a:lnSpc>
              <a:spcBef>
                <a:spcPct val="0"/>
              </a:spcBef>
            </a:pPr>
            <a:r>
              <a:rPr lang="en-US" sz="249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AI-103 Capstone: CloudXeus Agent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32302" y="868635"/>
            <a:ext cx="1298151" cy="18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4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CloudXeus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3122700"/>
            <a:ext cx="7295874" cy="2924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26"/>
              </a:lnSpc>
            </a:pPr>
            <a:r>
              <a:rPr lang="en-US" sz="950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</Words>
  <Application>Microsoft Office PowerPoint</Application>
  <PresentationFormat>Custom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Poppins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CloudXeus AI Course Support Agent</dc:title>
  <cp:lastModifiedBy>Daniel Carter</cp:lastModifiedBy>
  <cp:revision>2</cp:revision>
  <dcterms:created xsi:type="dcterms:W3CDTF">2006-08-16T00:00:00Z</dcterms:created>
  <dcterms:modified xsi:type="dcterms:W3CDTF">2026-07-07T06:20:27Z</dcterms:modified>
  <dc:identifier>DAHOlZbNqPY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a10931-d67e-436d-b09e-2d8c0fe9bf13_Enabled">
    <vt:lpwstr>true</vt:lpwstr>
  </property>
  <property fmtid="{D5CDD505-2E9C-101B-9397-08002B2CF9AE}" pid="3" name="MSIP_Label_f5a10931-d67e-436d-b09e-2d8c0fe9bf13_SetDate">
    <vt:lpwstr>2026-07-07T06:20:27Z</vt:lpwstr>
  </property>
  <property fmtid="{D5CDD505-2E9C-101B-9397-08002B2CF9AE}" pid="4" name="MSIP_Label_f5a10931-d67e-436d-b09e-2d8c0fe9bf13_Method">
    <vt:lpwstr>Standard</vt:lpwstr>
  </property>
  <property fmtid="{D5CDD505-2E9C-101B-9397-08002B2CF9AE}" pid="5" name="MSIP_Label_f5a10931-d67e-436d-b09e-2d8c0fe9bf13_Name">
    <vt:lpwstr>Sensitive Information</vt:lpwstr>
  </property>
  <property fmtid="{D5CDD505-2E9C-101B-9397-08002B2CF9AE}" pid="6" name="MSIP_Label_f5a10931-d67e-436d-b09e-2d8c0fe9bf13_SiteId">
    <vt:lpwstr>70c0f6d9-7f3b-4425-a6b6-09b47643ec58</vt:lpwstr>
  </property>
  <property fmtid="{D5CDD505-2E9C-101B-9397-08002B2CF9AE}" pid="7" name="MSIP_Label_f5a10931-d67e-436d-b09e-2d8c0fe9bf13_ActionId">
    <vt:lpwstr>e6b76abf-6c7a-4e7e-ae67-65ed25e8a9a6</vt:lpwstr>
  </property>
  <property fmtid="{D5CDD505-2E9C-101B-9397-08002B2CF9AE}" pid="8" name="MSIP_Label_f5a10931-d67e-436d-b09e-2d8c0fe9bf13_ContentBits">
    <vt:lpwstr>0</vt:lpwstr>
  </property>
  <property fmtid="{D5CDD505-2E9C-101B-9397-08002B2CF9AE}" pid="9" name="MSIP_Label_f5a10931-d67e-436d-b09e-2d8c0fe9bf13_Tag">
    <vt:lpwstr>10, 3, 0, 1</vt:lpwstr>
  </property>
</Properties>
</file>